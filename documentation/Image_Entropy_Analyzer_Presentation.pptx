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barChart>
        <c:barDir val="col"/>
        <c:grouping val="clustered"/>
        <c:ser>
          <c:idx val="0"/>
          <c:order val="0"/>
          <c:tx>
            <c:strRef>
              <c:f>Sheet1!$B$1</c:f>
              <c:strCache>
                <c:ptCount val="1"/>
                <c:pt idx="0">
                  <c:v>Entropy</c:v>
                </c:pt>
              </c:strCache>
            </c:strRef>
          </c:tx>
          <c:spPr>
            <a:solidFill>
              <a:srgbClr val="8DAA94"/>
            </a:solidFill>
            <a:ln>
              <a:noFill/>
            </a:ln>
          </c:spPr>
          <c:cat>
            <c:strRef>
              <c:f>Sheet1!$A$2:$A$5</c:f>
              <c:strCache>
                <c:ptCount val="4"/>
                <c:pt idx="0">
                  <c:v>Constant</c:v>
                </c:pt>
                <c:pt idx="1">
                  <c:v>Four levels</c:v>
                </c:pt>
                <c:pt idx="2">
                  <c:v>Landscape</c:v>
                </c:pt>
                <c:pt idx="3">
                  <c:v>Noise</c:v>
                </c:pt>
              </c:strCache>
            </c:strRef>
          </c:cat>
          <c:val>
            <c:numRef>
              <c:f>Sheet1!$B$2:$B$5</c:f>
              <c:numCache>
                <c:formatCode>General</c:formatCode>
                <c:ptCount val="4"/>
                <c:pt idx="0">
                  <c:v>0.0</c:v>
                </c:pt>
                <c:pt idx="1">
                  <c:v>2.0</c:v>
                </c:pt>
                <c:pt idx="2">
                  <c:v>6.517913761028963</c:v>
                </c:pt>
                <c:pt idx="3">
                  <c:v>7.996772326041036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300"/>
            </a:pPr>
          </a:p>
        </c:txPr>
        <c:crossAx val="-2113994440"/>
        <c:crosses val="autoZero"/>
        <c:auto val="1"/>
        <c:lblAlgn val="ctr"/>
        <c:lblOffset val="100"/>
        <c:noMultiLvlLbl val="0"/>
      </c:catAx>
      <c:valAx>
        <c:axId val="-2113994440"/>
        <c:scaling>
          <c:max val="8.0"/>
          <c:min val="0.0"/>
        </c:scaling>
        <c:delete val="0"/>
        <c:axPos val="l"/>
        <c:majorGridlines/>
        <c:majorTickMark val="out"/>
        <c:minorTickMark val="none"/>
        <c:tickLblPos val="nextTo"/>
        <c:txPr>
          <a:bodyPr/>
          <a:lstStyle/>
          <a:p>
            <a:pPr>
              <a:defRPr sz="1400"/>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20 seconds.</a:t>
            </a:r>
          </a:p>
          <a:p/>
          <a:p>
            <a:r>
              <a:t>My project turns an uploaded image into a probability distribution and uses Shannon entropy to describe uncertainty in its pixel values. I will show the mathematical model, how the Python modules implement it, and what controlled experiments tell us. The landscape shown here was generated for testing; it is not a photograph.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30 seconds.</a:t>
            </a:r>
          </a:p>
          <a:p/>
          <a:p>
            <a:r>
              <a:t>Looking at an image tells us about its appearance, but not a numerical uncertainty. I choose a narrow question: if I sample a pixel location, how uncertain is its intensity? A constant image is predictable. Random noise spreads the counts much more evenly. These examples motivate the model, without treating entropy as a quality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25 seconds.</a:t>
            </a:r>
          </a:p>
          <a:p/>
          <a:p>
            <a:r>
              <a:t>The main objective is to connect Information Theory to decoded image data. I can check each stage: counts must equal the pixel count, probabilities must sum to one, known distributions must give known entropy, and the exported values must match the analysis. The interface supports both exploration and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45 seconds.</a:t>
            </a:r>
          </a:p>
          <a:p/>
          <a:p>
            <a:r>
              <a:t>X is the intensity at a uniformly selected pixel location. For each occurring intensity, I divide its count by the total pixels to obtain p. Minus log base two of p is that outcome’s surprise. Multiplying by p and adding gives average surprise. The implementation excludes zero entries so it never takes log of zero. The result concerns this marginal model, rather than the joint information in an entire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30 seconds.</a:t>
            </a:r>
          </a:p>
          <a:p/>
          <a:p>
            <a:r>
              <a:t>Pillow converts the decoded image to 8-bit grayscale, so the alphabet has 256 values. NumPy counts how often each one occurs, then divides by the total. The four-band image spans black to white but has only four levels. That illustrates why a broad intensity range does not itself imply entropy near eight. Balance and support size both matter.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40 seconds.</a:t>
            </a:r>
          </a:p>
          <a:p/>
          <a:p>
            <a:r>
              <a:t>app.py owns the interface, image_utils.py owns decoding and representation, and entropy.py owns the calculations. Data moves from bytes to a Pillow image, then a two-dimensional uint8 array, then a result dictionary. The RGB branch starts from the loaded colour image. Each channel reuses exactly the same analyzer. Comparison repeats the main grayscale pipeline, so it is a consistent method across files.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40 seconds.</a:t>
            </a:r>
          </a:p>
          <a:p/>
          <a:p>
            <a:r>
              <a:t>The histogram is built once from the validated samples. Dividing by its total makes the probabilities sum to one. Entropy uses the positive bins. The maximum is fixed at eight, even when only a few values occur. Normalized entropy is clipped to zero through one in the helper. The redundancy label means the deficit relative to that eight-bit reference; no compressor is run and it is not a guaranteed saving.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30 seconds.</a:t>
            </a:r>
          </a:p>
          <a:p/>
          <a:p>
            <a:r>
              <a:t>All six libraries shown are confirmed in the requirements or source. Streamlit runs the script as an interactive application. The cached function covers image loading and main grayscale analysis, while RGB and plots can be recomputed. Keeping entropy.py independent of the browser made it possible to test tiny arrays directly. The requirements are unpinned; the experiment manifest records the versions actually used.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40 seconds.</a:t>
            </a:r>
          </a:p>
          <a:p/>
          <a:p>
            <a:r>
              <a:t>These screenshots come from the actual app running locally. The uploaded colour demonstration has red and green channels with identical distributions and a constant blue channel. Its main grayscale entropy is 5.881063, which differs from the red and green values of 6.517914 because grayscale conversion mixes samples before counting. The two distribution plots show counts and probabilities. Both CSV download buttons and invalid-input handling were exercised in a real browser.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45 seconds.</a:t>
            </a:r>
          </a:p>
          <a:p/>
          <a:p>
            <a:r>
              <a:t>There are four pixels. Intensity zero occurs three times and 255 occurs once, giving probabilities three quarters and one quarter. Their surprise values are about 0.415 bits and two bits. Weighting gives 0.311278 plus 0.5, or 0.811278. Divide by eight for normalized entropy and take its complement times one hundred for the deficit. There are two unique levels. The code still uses eight as its maximum reference.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40 seconds.</a:t>
            </a:r>
          </a:p>
          <a:p/>
          <a:p>
            <a:r>
              <a:t>All four images are synthetic and have the same dimensions. The constant and four-level cases match their exact expected values. The procedural landscape has 106 occupied levels with unequal probabilities. Finite seeded noise uses all levels with counts close to equal, giving just under eight. The table and editable chart use genuine outputs from the project analyzer, not illustrative values. These four cases are demonstrations, not a statistical survey of natural images.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25 seconds.</a:t>
            </a:r>
          </a:p>
          <a:p/>
          <a:p>
            <a:r>
              <a:t>The current tool directly supports image statistics and teaching. It also gives a starting point for controlled processing studies. More ambitious uses require additions and evidence: scene characterization needs spatial features and labels, vision needs a validated downstream model, and compression analysis needs a specified coder with actual byte measurements. I distinguish those possibilities from implemented features.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35 seconds.</a:t>
            </a:r>
          </a:p>
          <a:p/>
          <a:p>
            <a:r>
              <a:t>This is the strongest limitation demonstration. I shuffled the landscape pixels and verified exactly identical histograms and entropy. Their arrangement has changed but the model cannot see that. The same issue applies to separate channel entropies: dependence between channels is missing. Representation and finite-sample choices also affect results. File size is metadata, not an entropy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25 seconds.</a:t>
            </a:r>
          </a:p>
          <a:p/>
          <a:p>
            <a:r>
              <a:t>I would begin with region comparison or a controlled noise sweep because they are manageable and easy to validate. Local maps would show variation across a scene, with window size explicitly recorded. Neighbor-pair statistics could test prediction beyond a marginal histogram. Finally, a real lossless-coding experiment must verify decoded samples and count overhead. Each extension answers a specific question.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20 seconds.</a:t>
            </a:r>
          </a:p>
          <a:p/>
          <a:p>
            <a:r>
              <a:t>The project implements an end-to-end measurement pipeline with understandable intermediate evidence. Known-input checks support the arithmetic and the browser run supports the interface behavior. The main lesson is to state the source model clearly: uncertainty in image-wide intensity values is useful, but it is not a complete description of an image or a compressor.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10 seconds.</a:t>
            </a:r>
          </a:p>
          <a:p/>
          <a:p>
            <a:r>
              <a:t>These are the primary theoretical and official library references. The guide includes additional official links for EXIF, CSV and plotting. More importantly, the implementation claims are grounded in our inspected local files, and every experimental number can be reproduced using the saved script and image files. The repository address is verified from git origin.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Approximate speaking time: 5 seconds.</a:t>
            </a:r>
          </a:p>
          <a:p/>
          <a:p>
            <a:r>
              <a:t>Thank you. I am happy to explain the numerical example, trace a function in the code, or discuss why the shuffled-image result exposes the limits of this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rinceton.edu/~wbialek/rome/refs/shannon_48.pdf" TargetMode="External"/><Relationship Id="rId3" Type="http://schemas.openxmlformats.org/officeDocument/2006/relationships/hyperlink" Target="https://pillow.readthedocs.io/en/stable/reference/Image.html" TargetMode="External"/><Relationship Id="rId4" Type="http://schemas.openxmlformats.org/officeDocument/2006/relationships/hyperlink" Target="https://numpy.org/doc/stable/reference/generated/numpy.bincount.html" TargetMode="External"/><Relationship Id="rId5" Type="http://schemas.openxmlformats.org/officeDocument/2006/relationships/hyperlink" Target="https://docs.streamlit.io/develop/api-reference/caching-and-state/st.cache_data" TargetMode="Externa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Ishita-2210/image-entropy-analyzer" TargetMode="External"/><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Image Entropy Analyzer</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01</a:t>
            </a:r>
          </a:p>
        </p:txBody>
      </p:sp>
      <p:sp>
        <p:nvSpPr>
          <p:cNvPr id="7" name="TextBox 6"/>
          <p:cNvSpPr txBox="1"/>
          <p:nvPr/>
        </p:nvSpPr>
        <p:spPr>
          <a:xfrm>
            <a:off x="594360" y="1883664"/>
            <a:ext cx="7315200" cy="1188720"/>
          </a:xfrm>
          <a:prstGeom prst="rect">
            <a:avLst/>
          </a:prstGeom>
          <a:noFill/>
        </p:spPr>
        <p:txBody>
          <a:bodyPr wrap="square" lIns="0" rIns="0" tIns="0" bIns="0">
            <a:spAutoFit/>
          </a:bodyPr>
          <a:lstStyle/>
          <a:p>
            <a:pPr>
              <a:spcAft>
                <a:spcPts val="800"/>
              </a:spcAft>
              <a:defRPr sz="3600" b="1">
                <a:solidFill>
                  <a:srgbClr val="18221C"/>
                </a:solidFill>
                <a:latin typeface="Calibri"/>
              </a:defRPr>
            </a:pPr>
            <a:r>
              <a:t>From pixel distributions</a:t>
            </a:r>
          </a:p>
          <a:p>
            <a:pPr>
              <a:spcAft>
                <a:spcPts val="800"/>
              </a:spcAft>
              <a:defRPr sz="3600" b="1">
                <a:solidFill>
                  <a:srgbClr val="18221C"/>
                </a:solidFill>
                <a:latin typeface="Calibri"/>
              </a:defRPr>
            </a:pPr>
            <a:r>
              <a:t>to statistical uncertainty</a:t>
            </a:r>
          </a:p>
        </p:txBody>
      </p:sp>
      <p:sp>
        <p:nvSpPr>
          <p:cNvPr id="8" name="TextBox 7"/>
          <p:cNvSpPr txBox="1"/>
          <p:nvPr/>
        </p:nvSpPr>
        <p:spPr>
          <a:xfrm>
            <a:off x="621792" y="3438144"/>
            <a:ext cx="6400800" cy="548640"/>
          </a:xfrm>
          <a:prstGeom prst="rect">
            <a:avLst/>
          </a:prstGeom>
          <a:noFill/>
        </p:spPr>
        <p:txBody>
          <a:bodyPr wrap="square" lIns="0" rIns="0" tIns="0" bIns="0">
            <a:spAutoFit/>
          </a:bodyPr>
          <a:lstStyle/>
          <a:p>
            <a:pPr>
              <a:spcAft>
                <a:spcPts val="800"/>
              </a:spcAft>
              <a:defRPr sz="2500" b="0">
                <a:solidFill>
                  <a:srgbClr val="486B52"/>
                </a:solidFill>
                <a:latin typeface="Calibri"/>
              </a:defRPr>
            </a:pPr>
            <a:r>
              <a:t>Information Theory Mini Project</a:t>
            </a:r>
          </a:p>
        </p:txBody>
      </p:sp>
      <p:sp>
        <p:nvSpPr>
          <p:cNvPr id="9" name="TextBox 8"/>
          <p:cNvSpPr txBox="1"/>
          <p:nvPr/>
        </p:nvSpPr>
        <p:spPr>
          <a:xfrm>
            <a:off x="621792" y="4251960"/>
            <a:ext cx="6400800" cy="457200"/>
          </a:xfrm>
          <a:prstGeom prst="rect">
            <a:avLst/>
          </a:prstGeom>
          <a:noFill/>
        </p:spPr>
        <p:txBody>
          <a:bodyPr wrap="square" lIns="0" rIns="0" tIns="0" bIns="0">
            <a:spAutoFit/>
          </a:bodyPr>
          <a:lstStyle/>
          <a:p>
            <a:pPr>
              <a:spcAft>
                <a:spcPts val="800"/>
              </a:spcAft>
              <a:defRPr sz="2700" b="1">
                <a:solidFill>
                  <a:srgbClr val="18221C"/>
                </a:solidFill>
                <a:latin typeface="Calibri"/>
              </a:defRPr>
            </a:pPr>
            <a:r>
              <a:t>Ishita Sahu</a:t>
            </a:r>
          </a:p>
        </p:txBody>
      </p:sp>
      <p:sp>
        <p:nvSpPr>
          <p:cNvPr id="10" name="TextBox 9"/>
          <p:cNvSpPr txBox="1"/>
          <p:nvPr/>
        </p:nvSpPr>
        <p:spPr>
          <a:xfrm>
            <a:off x="621792" y="4800600"/>
            <a:ext cx="6400800" cy="685800"/>
          </a:xfrm>
          <a:prstGeom prst="rect">
            <a:avLst/>
          </a:prstGeom>
          <a:noFill/>
        </p:spPr>
        <p:txBody>
          <a:bodyPr wrap="square" lIns="0" rIns="0" tIns="0" bIns="0">
            <a:spAutoFit/>
          </a:bodyPr>
          <a:lstStyle/>
          <a:p>
            <a:pPr>
              <a:spcAft>
                <a:spcPts val="800"/>
              </a:spcAft>
              <a:defRPr sz="1900" b="0">
                <a:solidFill>
                  <a:srgbClr val="59675F"/>
                </a:solidFill>
                <a:latin typeface="Calibri"/>
              </a:defRPr>
            </a:pPr>
            <a:r>
              <a:t>Python · Streamlit · Reproducible experiments</a:t>
            </a:r>
          </a:p>
        </p:txBody>
      </p:sp>
      <p:pic>
        <p:nvPicPr>
          <p:cNvPr id="11" name="Picture 10" descr="landscape.png"/>
          <p:cNvPicPr>
            <a:picLocks noChangeAspect="1"/>
          </p:cNvPicPr>
          <p:nvPr/>
        </p:nvPicPr>
        <p:blipFill>
          <a:blip r:embed="rId2"/>
          <a:stretch>
            <a:fillRect/>
          </a:stretch>
        </p:blipFill>
        <p:spPr>
          <a:xfrm>
            <a:off x="8503920" y="1874519"/>
            <a:ext cx="2377440" cy="2377440"/>
          </a:xfrm>
          <a:prstGeom prst="rect">
            <a:avLst/>
          </a:prstGeom>
        </p:spPr>
      </p:pic>
      <p:sp>
        <p:nvSpPr>
          <p:cNvPr id="12" name="TextBox 11"/>
          <p:cNvSpPr txBox="1"/>
          <p:nvPr/>
        </p:nvSpPr>
        <p:spPr>
          <a:xfrm>
            <a:off x="8503920" y="4434840"/>
            <a:ext cx="2743200" cy="548640"/>
          </a:xfrm>
          <a:prstGeom prst="rect">
            <a:avLst/>
          </a:prstGeom>
          <a:noFill/>
        </p:spPr>
        <p:txBody>
          <a:bodyPr wrap="square" lIns="0" rIns="0" tIns="0" bIns="0">
            <a:spAutoFit/>
          </a:bodyPr>
          <a:lstStyle/>
          <a:p>
            <a:pPr>
              <a:spcAft>
                <a:spcPts val="800"/>
              </a:spcAft>
              <a:defRPr sz="1500" b="0">
                <a:solidFill>
                  <a:srgbClr val="59675F"/>
                </a:solidFill>
                <a:latin typeface="Calibri"/>
              </a:defRPr>
            </a:pPr>
            <a:r>
              <a:t>Synthetic test image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What can a pixel distribution tell us?</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02</a:t>
            </a:r>
          </a:p>
        </p:txBody>
      </p:sp>
      <p:sp>
        <p:nvSpPr>
          <p:cNvPr id="7" name="Rectangle 6"/>
          <p:cNvSpPr/>
          <p:nvPr/>
        </p:nvSpPr>
        <p:spPr>
          <a:xfrm>
            <a:off x="640080" y="199339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920240"/>
            <a:ext cx="545896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Problem</a:t>
            </a:r>
          </a:p>
        </p:txBody>
      </p:sp>
      <p:sp>
        <p:nvSpPr>
          <p:cNvPr id="9" name="TextBox 8"/>
          <p:cNvSpPr txBox="1"/>
          <p:nvPr/>
        </p:nvSpPr>
        <p:spPr>
          <a:xfrm>
            <a:off x="850392" y="2359152"/>
            <a:ext cx="545896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Images look different; we need a precise statistical comparison.</a:t>
            </a:r>
          </a:p>
        </p:txBody>
      </p:sp>
      <p:sp>
        <p:nvSpPr>
          <p:cNvPr id="10" name="Rectangle 9"/>
          <p:cNvSpPr/>
          <p:nvPr/>
        </p:nvSpPr>
        <p:spPr>
          <a:xfrm>
            <a:off x="640080" y="322783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154680"/>
            <a:ext cx="545896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Motivation</a:t>
            </a:r>
          </a:p>
        </p:txBody>
      </p:sp>
      <p:sp>
        <p:nvSpPr>
          <p:cNvPr id="12" name="TextBox 11"/>
          <p:cNvSpPr txBox="1"/>
          <p:nvPr/>
        </p:nvSpPr>
        <p:spPr>
          <a:xfrm>
            <a:off x="850392" y="3593592"/>
            <a:ext cx="545896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Counts and probabilities make uncertainty measurable.</a:t>
            </a:r>
          </a:p>
        </p:txBody>
      </p:sp>
      <p:sp>
        <p:nvSpPr>
          <p:cNvPr id="13" name="Rectangle 12"/>
          <p:cNvSpPr/>
          <p:nvPr/>
        </p:nvSpPr>
        <p:spPr>
          <a:xfrm>
            <a:off x="640080" y="446227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4389120"/>
            <a:ext cx="545896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Research question</a:t>
            </a:r>
          </a:p>
        </p:txBody>
      </p:sp>
      <p:sp>
        <p:nvSpPr>
          <p:cNvPr id="15" name="TextBox 14"/>
          <p:cNvSpPr txBox="1"/>
          <p:nvPr/>
        </p:nvSpPr>
        <p:spPr>
          <a:xfrm>
            <a:off x="850392" y="4828032"/>
            <a:ext cx="545896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How does the intensity distribution change entropy?</a:t>
            </a:r>
          </a:p>
        </p:txBody>
      </p:sp>
      <p:pic>
        <p:nvPicPr>
          <p:cNvPr id="16" name="Picture 15" descr="constant.png"/>
          <p:cNvPicPr>
            <a:picLocks noChangeAspect="1"/>
          </p:cNvPicPr>
          <p:nvPr/>
        </p:nvPicPr>
        <p:blipFill>
          <a:blip r:embed="rId2"/>
          <a:stretch>
            <a:fillRect/>
          </a:stretch>
        </p:blipFill>
        <p:spPr>
          <a:xfrm>
            <a:off x="7315200" y="2011680"/>
            <a:ext cx="1645920" cy="1645920"/>
          </a:xfrm>
          <a:prstGeom prst="rect">
            <a:avLst/>
          </a:prstGeom>
        </p:spPr>
      </p:pic>
      <p:pic>
        <p:nvPicPr>
          <p:cNvPr id="17" name="Picture 16" descr="noise.png"/>
          <p:cNvPicPr>
            <a:picLocks noChangeAspect="1"/>
          </p:cNvPicPr>
          <p:nvPr/>
        </p:nvPicPr>
        <p:blipFill>
          <a:blip r:embed="rId3"/>
          <a:stretch>
            <a:fillRect/>
          </a:stretch>
        </p:blipFill>
        <p:spPr>
          <a:xfrm>
            <a:off x="9372600" y="2011680"/>
            <a:ext cx="1645920" cy="1645920"/>
          </a:xfrm>
          <a:prstGeom prst="rect">
            <a:avLst/>
          </a:prstGeom>
        </p:spPr>
      </p:pic>
      <p:sp>
        <p:nvSpPr>
          <p:cNvPr id="18" name="TextBox 17"/>
          <p:cNvSpPr txBox="1"/>
          <p:nvPr/>
        </p:nvSpPr>
        <p:spPr>
          <a:xfrm>
            <a:off x="7223760" y="3977639"/>
            <a:ext cx="4114800" cy="1188720"/>
          </a:xfrm>
          <a:prstGeom prst="rect">
            <a:avLst/>
          </a:prstGeom>
          <a:noFill/>
        </p:spPr>
        <p:txBody>
          <a:bodyPr wrap="square" lIns="0" rIns="0" tIns="0" bIns="0">
            <a:spAutoFit/>
          </a:bodyPr>
          <a:lstStyle/>
          <a:p>
            <a:pPr>
              <a:spcAft>
                <a:spcPts val="800"/>
              </a:spcAft>
              <a:defRPr sz="2200" b="0">
                <a:solidFill>
                  <a:srgbClr val="486B52"/>
                </a:solidFill>
                <a:latin typeface="Calibri"/>
              </a:defRPr>
            </a:pPr>
            <a:r>
              <a:t>Constant → predictable</a:t>
            </a:r>
          </a:p>
          <a:p>
            <a:pPr>
              <a:spcAft>
                <a:spcPts val="800"/>
              </a:spcAft>
              <a:defRPr sz="2200" b="0">
                <a:solidFill>
                  <a:srgbClr val="486B52"/>
                </a:solidFill>
                <a:latin typeface="Calibri"/>
              </a:defRPr>
            </a:pPr>
            <a:r>
              <a:t>Noise → nearly balanced counts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Objectives we can check</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03</a:t>
            </a:r>
          </a:p>
        </p:txBody>
      </p:sp>
      <p:sp>
        <p:nvSpPr>
          <p:cNvPr id="7" name="TextBox 6"/>
          <p:cNvSpPr txBox="1"/>
          <p:nvPr/>
        </p:nvSpPr>
        <p:spPr>
          <a:xfrm>
            <a:off x="640080" y="1874519"/>
            <a:ext cx="10789920" cy="685800"/>
          </a:xfrm>
          <a:prstGeom prst="rect">
            <a:avLst/>
          </a:prstGeom>
          <a:noFill/>
        </p:spPr>
        <p:txBody>
          <a:bodyPr wrap="square" lIns="0" rIns="0" tIns="0" bIns="0">
            <a:spAutoFit/>
          </a:bodyPr>
          <a:lstStyle/>
          <a:p>
            <a:pPr>
              <a:spcAft>
                <a:spcPts val="800"/>
              </a:spcAft>
              <a:defRPr sz="2800" b="1">
                <a:solidFill>
                  <a:srgbClr val="486B52"/>
                </a:solidFill>
                <a:latin typeface="Calibri"/>
              </a:defRPr>
            </a:pPr>
            <a:r>
              <a:t>Measure and explain grayscale intensity uncertainty.</a:t>
            </a:r>
          </a:p>
        </p:txBody>
      </p:sp>
      <p:sp>
        <p:nvSpPr>
          <p:cNvPr id="8" name="Rectangle 7"/>
          <p:cNvSpPr/>
          <p:nvPr/>
        </p:nvSpPr>
        <p:spPr>
          <a:xfrm>
            <a:off x="685800" y="299923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926080"/>
            <a:ext cx="500176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Compute</a:t>
            </a:r>
          </a:p>
        </p:txBody>
      </p:sp>
      <p:sp>
        <p:nvSpPr>
          <p:cNvPr id="10" name="TextBox 9"/>
          <p:cNvSpPr txBox="1"/>
          <p:nvPr/>
        </p:nvSpPr>
        <p:spPr>
          <a:xfrm>
            <a:off x="896112" y="3364992"/>
            <a:ext cx="500176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Histogram → probabilities → entropy</a:t>
            </a:r>
          </a:p>
        </p:txBody>
      </p:sp>
      <p:sp>
        <p:nvSpPr>
          <p:cNvPr id="11" name="Rectangle 10"/>
          <p:cNvSpPr/>
          <p:nvPr/>
        </p:nvSpPr>
        <p:spPr>
          <a:xfrm>
            <a:off x="685800" y="414223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4069080"/>
            <a:ext cx="500176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Interpret</a:t>
            </a:r>
          </a:p>
        </p:txBody>
      </p:sp>
      <p:sp>
        <p:nvSpPr>
          <p:cNvPr id="13" name="TextBox 12"/>
          <p:cNvSpPr txBox="1"/>
          <p:nvPr/>
        </p:nvSpPr>
        <p:spPr>
          <a:xfrm>
            <a:off x="896112" y="4507992"/>
            <a:ext cx="500176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Fixed maximum, normalization and deficit</a:t>
            </a:r>
          </a:p>
        </p:txBody>
      </p:sp>
      <p:sp>
        <p:nvSpPr>
          <p:cNvPr id="14" name="Rectangle 13"/>
          <p:cNvSpPr/>
          <p:nvPr/>
        </p:nvSpPr>
        <p:spPr>
          <a:xfrm>
            <a:off x="6400800" y="299923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11112" y="2926080"/>
            <a:ext cx="481888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Compare</a:t>
            </a:r>
          </a:p>
        </p:txBody>
      </p:sp>
      <p:sp>
        <p:nvSpPr>
          <p:cNvPr id="16" name="TextBox 15"/>
          <p:cNvSpPr txBox="1"/>
          <p:nvPr/>
        </p:nvSpPr>
        <p:spPr>
          <a:xfrm>
            <a:off x="6611112" y="3364992"/>
            <a:ext cx="481888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RGB channels and multiple images</a:t>
            </a:r>
          </a:p>
        </p:txBody>
      </p:sp>
      <p:sp>
        <p:nvSpPr>
          <p:cNvPr id="17" name="Rectangle 16"/>
          <p:cNvSpPr/>
          <p:nvPr/>
        </p:nvSpPr>
        <p:spPr>
          <a:xfrm>
            <a:off x="6400800" y="414223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4069080"/>
            <a:ext cx="4818888"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Verify and export</a:t>
            </a:r>
          </a:p>
        </p:txBody>
      </p:sp>
      <p:sp>
        <p:nvSpPr>
          <p:cNvPr id="19" name="TextBox 18"/>
          <p:cNvSpPr txBox="1"/>
          <p:nvPr/>
        </p:nvSpPr>
        <p:spPr>
          <a:xfrm>
            <a:off x="6611112" y="4507992"/>
            <a:ext cx="4818888"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Known inputs, measured results and 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Shannon entropy: average surprise</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[1] Shannon (1948), A Mathematical Theory of Communication · Full references: slide 16</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04</a:t>
            </a:r>
          </a:p>
        </p:txBody>
      </p:sp>
      <p:sp>
        <p:nvSpPr>
          <p:cNvPr id="7" name="Rectangle 6"/>
          <p:cNvSpPr/>
          <p:nvPr/>
        </p:nvSpPr>
        <p:spPr>
          <a:xfrm>
            <a:off x="640080" y="1874519"/>
            <a:ext cx="10881360" cy="1234440"/>
          </a:xfrm>
          <a:prstGeom prst="rect">
            <a:avLst/>
          </a:prstGeom>
          <a:solidFill>
            <a:srgbClr val="ED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121408"/>
            <a:ext cx="10332720" cy="640080"/>
          </a:xfrm>
          <a:prstGeom prst="rect">
            <a:avLst/>
          </a:prstGeom>
          <a:noFill/>
        </p:spPr>
        <p:txBody>
          <a:bodyPr wrap="square" lIns="0" rIns="0" tIns="0" bIns="0">
            <a:spAutoFit/>
          </a:bodyPr>
          <a:lstStyle/>
          <a:p>
            <a:pPr algn="ctr">
              <a:spcAft>
                <a:spcPts val="800"/>
              </a:spcAft>
              <a:defRPr sz="3800" b="0">
                <a:solidFill>
                  <a:srgbClr val="486B52"/>
                </a:solidFill>
                <a:latin typeface="Cambria Math"/>
              </a:defRPr>
            </a:pPr>
            <a:r>
              <a:t>H(X) = −Σ pᵢ log₂(pᵢ)</a:t>
            </a:r>
          </a:p>
        </p:txBody>
      </p:sp>
      <p:graphicFrame>
        <p:nvGraphicFramePr>
          <p:cNvPr id="9" name="Table 8"/>
          <p:cNvGraphicFramePr>
            <a:graphicFrameLocks noGrp="1"/>
          </p:cNvGraphicFramePr>
          <p:nvPr/>
        </p:nvGraphicFramePr>
        <p:xfrm>
          <a:off x="914400" y="3474720"/>
          <a:ext cx="10332720" cy="2057400"/>
        </p:xfrm>
        <a:graphic>
          <a:graphicData uri="http://schemas.openxmlformats.org/drawingml/2006/table">
            <a:tbl>
              <a:tblPr firstRow="1" bandRow="1">
                <a:tableStyleId>{5C22544A-7EE6-4342-B048-85BDC9FD1C3A}</a:tableStyleId>
              </a:tblPr>
              <a:tblGrid>
                <a:gridCol w="2560320"/>
                <a:gridCol w="7772400"/>
              </a:tblGrid>
              <a:tr h="411480">
                <a:tc>
                  <a:txBody>
                    <a:bodyPr/>
                    <a:lstStyle/>
                    <a:p>
                      <a:pPr>
                        <a:defRPr sz="2100" b="1">
                          <a:solidFill>
                            <a:srgbClr val="486B52"/>
                          </a:solidFill>
                          <a:latin typeface="Calibri"/>
                        </a:defRPr>
                      </a:pPr>
                      <a:r>
                        <a:t>Symbol</a:t>
                      </a:r>
                    </a:p>
                  </a:txBody>
                  <a:tcPr marL="109728" marR="82296" marT="82296" marB="54864" anchor="ctr">
                    <a:solidFill>
                      <a:srgbClr val="EDF4EF"/>
                    </a:solidFill>
                  </a:tcPr>
                </a:tc>
                <a:tc>
                  <a:txBody>
                    <a:bodyPr/>
                    <a:lstStyle/>
                    <a:p>
                      <a:pPr>
                        <a:defRPr sz="2100" b="1">
                          <a:solidFill>
                            <a:srgbClr val="486B52"/>
                          </a:solidFill>
                          <a:latin typeface="Calibri"/>
                        </a:defRPr>
                      </a:pPr>
                      <a:r>
                        <a:t>Meaning</a:t>
                      </a:r>
                    </a:p>
                  </a:txBody>
                  <a:tcPr marL="109728" marR="82296" marT="82296" marB="54864" anchor="ctr">
                    <a:solidFill>
                      <a:srgbClr val="EDF4EF"/>
                    </a:solidFill>
                  </a:tcPr>
                </a:tc>
              </a:tr>
              <a:tr h="411480">
                <a:tc>
                  <a:txBody>
                    <a:bodyPr/>
                    <a:lstStyle/>
                    <a:p>
                      <a:pPr>
                        <a:defRPr sz="2100" b="0">
                          <a:solidFill>
                            <a:srgbClr val="18221C"/>
                          </a:solidFill>
                          <a:latin typeface="Calibri"/>
                        </a:defRPr>
                      </a:pPr>
                      <a:r>
                        <a:t>X</a:t>
                      </a:r>
                    </a:p>
                  </a:txBody>
                  <a:tcPr marL="109728" marR="82296" marT="82296" marB="54864" anchor="ctr">
                    <a:solidFill>
                      <a:srgbClr val="FFFFFF"/>
                    </a:solidFill>
                  </a:tcPr>
                </a:tc>
                <a:tc>
                  <a:txBody>
                    <a:bodyPr/>
                    <a:lstStyle/>
                    <a:p>
                      <a:pPr>
                        <a:defRPr sz="2100" b="0">
                          <a:solidFill>
                            <a:srgbClr val="18221C"/>
                          </a:solidFill>
                          <a:latin typeface="Calibri"/>
                        </a:defRPr>
                      </a:pPr>
                      <a:r>
                        <a:t>Intensity at a uniformly selected pixel location</a:t>
                      </a:r>
                    </a:p>
                  </a:txBody>
                  <a:tcPr marL="109728" marR="82296" marT="82296" marB="54864" anchor="ctr">
                    <a:solidFill>
                      <a:srgbClr val="FFFFFF"/>
                    </a:solidFill>
                  </a:tcPr>
                </a:tc>
              </a:tr>
              <a:tr h="411480">
                <a:tc>
                  <a:txBody>
                    <a:bodyPr/>
                    <a:lstStyle/>
                    <a:p>
                      <a:pPr>
                        <a:defRPr sz="2100" b="0">
                          <a:solidFill>
                            <a:srgbClr val="18221C"/>
                          </a:solidFill>
                          <a:latin typeface="Calibri"/>
                        </a:defRPr>
                      </a:pPr>
                      <a:r>
                        <a:t>pᵢ = nᵢ / N</a:t>
                      </a:r>
                    </a:p>
                  </a:txBody>
                  <a:tcPr marL="109728" marR="82296" marT="82296" marB="54864" anchor="ctr">
                    <a:solidFill>
                      <a:srgbClr val="FFFFFF"/>
                    </a:solidFill>
                  </a:tcPr>
                </a:tc>
                <a:tc>
                  <a:txBody>
                    <a:bodyPr/>
                    <a:lstStyle/>
                    <a:p>
                      <a:pPr>
                        <a:defRPr sz="2100" b="0">
                          <a:solidFill>
                            <a:srgbClr val="18221C"/>
                          </a:solidFill>
                          <a:latin typeface="Calibri"/>
                        </a:defRPr>
                      </a:pPr>
                      <a:r>
                        <a:t>Count of intensity i divided by total pixels</a:t>
                      </a:r>
                    </a:p>
                  </a:txBody>
                  <a:tcPr marL="109728" marR="82296" marT="82296" marB="54864" anchor="ctr">
                    <a:solidFill>
                      <a:srgbClr val="FFFFFF"/>
                    </a:solidFill>
                  </a:tcPr>
                </a:tc>
              </a:tr>
              <a:tr h="411480">
                <a:tc>
                  <a:txBody>
                    <a:bodyPr/>
                    <a:lstStyle/>
                    <a:p>
                      <a:pPr>
                        <a:defRPr sz="2100" b="0">
                          <a:solidFill>
                            <a:srgbClr val="18221C"/>
                          </a:solidFill>
                          <a:latin typeface="Calibri"/>
                        </a:defRPr>
                      </a:pPr>
                      <a:r>
                        <a:t>Σ over pᵢ &gt; 0</a:t>
                      </a:r>
                    </a:p>
                  </a:txBody>
                  <a:tcPr marL="109728" marR="82296" marT="82296" marB="54864" anchor="ctr">
                    <a:solidFill>
                      <a:srgbClr val="FFFFFF"/>
                    </a:solidFill>
                  </a:tcPr>
                </a:tc>
                <a:tc>
                  <a:txBody>
                    <a:bodyPr/>
                    <a:lstStyle/>
                    <a:p>
                      <a:pPr>
                        <a:defRPr sz="2100" b="0">
                          <a:solidFill>
                            <a:srgbClr val="18221C"/>
                          </a:solidFill>
                          <a:latin typeface="Calibri"/>
                        </a:defRPr>
                      </a:pPr>
                      <a:r>
                        <a:t>Average weighted surprise; zero bins contribute 0</a:t>
                      </a:r>
                    </a:p>
                  </a:txBody>
                  <a:tcPr marL="109728" marR="82296" marT="82296" marB="54864" anchor="ctr">
                    <a:solidFill>
                      <a:srgbClr val="FFFFFF"/>
                    </a:solidFill>
                  </a:tcPr>
                </a:tc>
              </a:tr>
              <a:tr h="411480">
                <a:tc>
                  <a:txBody>
                    <a:bodyPr/>
                    <a:lstStyle/>
                    <a:p>
                      <a:pPr>
                        <a:defRPr sz="2100" b="0">
                          <a:solidFill>
                            <a:srgbClr val="18221C"/>
                          </a:solidFill>
                          <a:latin typeface="Calibri"/>
                        </a:defRPr>
                      </a:pPr>
                      <a:r>
                        <a:t>log₂</a:t>
                      </a:r>
                    </a:p>
                  </a:txBody>
                  <a:tcPr marL="109728" marR="82296" marT="82296" marB="54864" anchor="ctr">
                    <a:solidFill>
                      <a:srgbClr val="FFFFFF"/>
                    </a:solidFill>
                  </a:tcPr>
                </a:tc>
                <a:tc>
                  <a:txBody>
                    <a:bodyPr/>
                    <a:lstStyle/>
                    <a:p>
                      <a:pPr>
                        <a:defRPr sz="2100" b="0">
                          <a:solidFill>
                            <a:srgbClr val="18221C"/>
                          </a:solidFill>
                          <a:latin typeface="Calibri"/>
                        </a:defRPr>
                      </a:pPr>
                      <a:r>
                        <a:t>Base 2 gives bits per grayscale pixel sample</a:t>
                      </a:r>
                    </a:p>
                  </a:txBody>
                  <a:tcPr marL="109728" marR="82296" marT="82296" marB="54864"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An image becomes 256 intensity counts</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Implementation: image_utils.grayscale_array → entropy.calculate_histogram → calculate_probabilities</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05</a:t>
            </a:r>
          </a:p>
        </p:txBody>
      </p:sp>
      <p:pic>
        <p:nvPicPr>
          <p:cNvPr id="7" name="Picture 6" descr="constant.png"/>
          <p:cNvPicPr>
            <a:picLocks noChangeAspect="1"/>
          </p:cNvPicPr>
          <p:nvPr/>
        </p:nvPicPr>
        <p:blipFill>
          <a:blip r:embed="rId2"/>
          <a:stretch>
            <a:fillRect/>
          </a:stretch>
        </p:blipFill>
        <p:spPr>
          <a:xfrm>
            <a:off x="982980" y="1874519"/>
            <a:ext cx="1965960" cy="1965960"/>
          </a:xfrm>
          <a:prstGeom prst="rect">
            <a:avLst/>
          </a:prstGeom>
        </p:spPr>
      </p:pic>
      <p:sp>
        <p:nvSpPr>
          <p:cNvPr id="8" name="TextBox 7"/>
          <p:cNvSpPr txBox="1"/>
          <p:nvPr/>
        </p:nvSpPr>
        <p:spPr>
          <a:xfrm>
            <a:off x="731520" y="4023360"/>
            <a:ext cx="3474720" cy="685800"/>
          </a:xfrm>
          <a:prstGeom prst="rect">
            <a:avLst/>
          </a:prstGeom>
          <a:noFill/>
        </p:spPr>
        <p:txBody>
          <a:bodyPr wrap="square" lIns="0" rIns="0" tIns="0" bIns="0">
            <a:spAutoFit/>
          </a:bodyPr>
          <a:lstStyle/>
          <a:p>
            <a:pPr>
              <a:spcAft>
                <a:spcPts val="800"/>
              </a:spcAft>
              <a:defRPr sz="2200" b="1">
                <a:solidFill>
                  <a:srgbClr val="18221C"/>
                </a:solidFill>
                <a:latin typeface="Calibri"/>
              </a:defRPr>
            </a:pPr>
            <a:r>
              <a:t>One occupied level</a:t>
            </a:r>
          </a:p>
        </p:txBody>
      </p:sp>
      <p:pic>
        <p:nvPicPr>
          <p:cNvPr id="9" name="Picture 8" descr="four_levels.png"/>
          <p:cNvPicPr>
            <a:picLocks noChangeAspect="1"/>
          </p:cNvPicPr>
          <p:nvPr/>
        </p:nvPicPr>
        <p:blipFill>
          <a:blip r:embed="rId3"/>
          <a:stretch>
            <a:fillRect/>
          </a:stretch>
        </p:blipFill>
        <p:spPr>
          <a:xfrm>
            <a:off x="4777740" y="1874519"/>
            <a:ext cx="1965960" cy="1965960"/>
          </a:xfrm>
          <a:prstGeom prst="rect">
            <a:avLst/>
          </a:prstGeom>
        </p:spPr>
      </p:pic>
      <p:sp>
        <p:nvSpPr>
          <p:cNvPr id="10" name="TextBox 9"/>
          <p:cNvSpPr txBox="1"/>
          <p:nvPr/>
        </p:nvSpPr>
        <p:spPr>
          <a:xfrm>
            <a:off x="4526280" y="4023360"/>
            <a:ext cx="3474720" cy="685800"/>
          </a:xfrm>
          <a:prstGeom prst="rect">
            <a:avLst/>
          </a:prstGeom>
          <a:noFill/>
        </p:spPr>
        <p:txBody>
          <a:bodyPr wrap="square" lIns="0" rIns="0" tIns="0" bIns="0">
            <a:spAutoFit/>
          </a:bodyPr>
          <a:lstStyle/>
          <a:p>
            <a:pPr>
              <a:spcAft>
                <a:spcPts val="800"/>
              </a:spcAft>
              <a:defRPr sz="2200" b="1">
                <a:solidFill>
                  <a:srgbClr val="18221C"/>
                </a:solidFill>
                <a:latin typeface="Calibri"/>
              </a:defRPr>
            </a:pPr>
            <a:r>
              <a:t>Four equal-frequency levels</a:t>
            </a:r>
          </a:p>
        </p:txBody>
      </p:sp>
      <p:pic>
        <p:nvPicPr>
          <p:cNvPr id="11" name="Picture 10" descr="noise.png"/>
          <p:cNvPicPr>
            <a:picLocks noChangeAspect="1"/>
          </p:cNvPicPr>
          <p:nvPr/>
        </p:nvPicPr>
        <p:blipFill>
          <a:blip r:embed="rId4"/>
          <a:stretch>
            <a:fillRect/>
          </a:stretch>
        </p:blipFill>
        <p:spPr>
          <a:xfrm>
            <a:off x="8572500" y="1874519"/>
            <a:ext cx="1965960" cy="1965960"/>
          </a:xfrm>
          <a:prstGeom prst="rect">
            <a:avLst/>
          </a:prstGeom>
        </p:spPr>
      </p:pic>
      <p:sp>
        <p:nvSpPr>
          <p:cNvPr id="12" name="TextBox 11"/>
          <p:cNvSpPr txBox="1"/>
          <p:nvPr/>
        </p:nvSpPr>
        <p:spPr>
          <a:xfrm>
            <a:off x="8321040" y="4023360"/>
            <a:ext cx="3474720" cy="685800"/>
          </a:xfrm>
          <a:prstGeom prst="rect">
            <a:avLst/>
          </a:prstGeom>
          <a:noFill/>
        </p:spPr>
        <p:txBody>
          <a:bodyPr wrap="square" lIns="0" rIns="0" tIns="0" bIns="0">
            <a:spAutoFit/>
          </a:bodyPr>
          <a:lstStyle/>
          <a:p>
            <a:pPr>
              <a:spcAft>
                <a:spcPts val="800"/>
              </a:spcAft>
              <a:defRPr sz="2200" b="1">
                <a:solidFill>
                  <a:srgbClr val="18221C"/>
                </a:solidFill>
                <a:latin typeface="Calibri"/>
              </a:defRPr>
            </a:pPr>
            <a:r>
              <a:t>256 nearly balanced levels</a:t>
            </a:r>
          </a:p>
        </p:txBody>
      </p:sp>
      <p:sp>
        <p:nvSpPr>
          <p:cNvPr id="13" name="TextBox 12"/>
          <p:cNvSpPr txBox="1"/>
          <p:nvPr/>
        </p:nvSpPr>
        <p:spPr>
          <a:xfrm>
            <a:off x="777240" y="5074920"/>
            <a:ext cx="10881360" cy="822960"/>
          </a:xfrm>
          <a:prstGeom prst="rect">
            <a:avLst/>
          </a:prstGeom>
          <a:noFill/>
        </p:spPr>
        <p:txBody>
          <a:bodyPr wrap="square" lIns="0" rIns="0" tIns="0" bIns="0">
            <a:spAutoFit/>
          </a:bodyPr>
          <a:lstStyle/>
          <a:p>
            <a:pPr>
              <a:spcAft>
                <a:spcPts val="800"/>
              </a:spcAft>
              <a:defRPr sz="2300" b="0">
                <a:solidFill>
                  <a:srgbClr val="486B52"/>
                </a:solidFill>
                <a:latin typeface="Calibri"/>
              </a:defRPr>
            </a:pPr>
            <a:r>
              <a:t>8-bit grayscale: i ∈ {0,…,255}     pᵢ = count(i) / N</a:t>
            </a:r>
          </a:p>
          <a:p>
            <a:pPr>
              <a:spcAft>
                <a:spcPts val="800"/>
              </a:spcAft>
              <a:defRPr sz="2300" b="0">
                <a:solidFill>
                  <a:srgbClr val="486B52"/>
                </a:solidFill>
                <a:latin typeface="Calibri"/>
              </a:defRPr>
            </a:pPr>
            <a:r>
              <a:t>Brightness range and probability balance are different properties.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Architecture: reuse one numerical analyzer</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06</a:t>
            </a:r>
          </a:p>
        </p:txBody>
      </p:sp>
      <p:sp>
        <p:nvSpPr>
          <p:cNvPr id="7" name="Rectangle 6"/>
          <p:cNvSpPr/>
          <p:nvPr/>
        </p:nvSpPr>
        <p:spPr>
          <a:xfrm>
            <a:off x="731520" y="1920240"/>
            <a:ext cx="3154680" cy="914400"/>
          </a:xfrm>
          <a:prstGeom prst="rect">
            <a:avLst/>
          </a:prstGeom>
          <a:solidFill>
            <a:srgbClr val="EDF4EF"/>
          </a:solidFill>
          <a:ln>
            <a:solidFill>
              <a:srgbClr val="CC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039112"/>
            <a:ext cx="2926080" cy="393192"/>
          </a:xfrm>
          <a:prstGeom prst="rect">
            <a:avLst/>
          </a:prstGeom>
          <a:noFill/>
        </p:spPr>
        <p:txBody>
          <a:bodyPr wrap="square" lIns="0" rIns="0" tIns="0" bIns="0">
            <a:spAutoFit/>
          </a:bodyPr>
          <a:lstStyle/>
          <a:p>
            <a:pPr>
              <a:spcAft>
                <a:spcPts val="800"/>
              </a:spcAft>
              <a:defRPr sz="2300" b="1">
                <a:solidFill>
                  <a:srgbClr val="486B52"/>
                </a:solidFill>
                <a:latin typeface="Calibri"/>
              </a:defRPr>
            </a:pPr>
            <a:r>
              <a:t>Upload bytes</a:t>
            </a:r>
          </a:p>
        </p:txBody>
      </p:sp>
      <p:sp>
        <p:nvSpPr>
          <p:cNvPr id="9" name="TextBox 8"/>
          <p:cNvSpPr txBox="1"/>
          <p:nvPr/>
        </p:nvSpPr>
        <p:spPr>
          <a:xfrm>
            <a:off x="841248" y="2450592"/>
            <a:ext cx="2926080" cy="292608"/>
          </a:xfrm>
          <a:prstGeom prst="rect">
            <a:avLst/>
          </a:prstGeom>
          <a:noFill/>
        </p:spPr>
        <p:txBody>
          <a:bodyPr wrap="square" lIns="0" rIns="0" tIns="0" bIns="0">
            <a:spAutoFit/>
          </a:bodyPr>
          <a:lstStyle/>
          <a:p>
            <a:pPr>
              <a:spcAft>
                <a:spcPts val="800"/>
              </a:spcAft>
              <a:defRPr sz="1700" b="0">
                <a:solidFill>
                  <a:srgbClr val="59675F"/>
                </a:solidFill>
                <a:latin typeface="Calibri"/>
              </a:defRPr>
            </a:pPr>
            <a:r>
              <a:t>app.py</a:t>
            </a:r>
          </a:p>
        </p:txBody>
      </p:sp>
      <p:cxnSp>
        <p:nvCxnSpPr>
          <p:cNvPr id="10" name="Connector 9"/>
          <p:cNvCxnSpPr/>
          <p:nvPr/>
        </p:nvCxnSpPr>
        <p:spPr>
          <a:xfrm>
            <a:off x="3886200" y="2377440"/>
            <a:ext cx="502920" cy="0"/>
          </a:xfrm>
          <a:prstGeom prst="line">
            <a:avLst/>
          </a:prstGeom>
          <a:ln w="19050">
            <a:solidFill>
              <a:srgbClr val="486B52"/>
            </a:solidFill>
          </a:ln>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4329683" y="2318004"/>
            <a:ext cx="118872" cy="118872"/>
          </a:xfrm>
          <a:prstGeom prst="triangle">
            <a:avLst/>
          </a:prstGeom>
          <a:solidFill>
            <a:srgbClr val="48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1920240"/>
            <a:ext cx="3154680" cy="914400"/>
          </a:xfrm>
          <a:prstGeom prst="rect">
            <a:avLst/>
          </a:prstGeom>
          <a:solidFill>
            <a:srgbClr val="EDF4EF"/>
          </a:solidFill>
          <a:ln>
            <a:solidFill>
              <a:srgbClr val="CC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8" y="2039112"/>
            <a:ext cx="2926080" cy="393192"/>
          </a:xfrm>
          <a:prstGeom prst="rect">
            <a:avLst/>
          </a:prstGeom>
          <a:noFill/>
        </p:spPr>
        <p:txBody>
          <a:bodyPr wrap="square" lIns="0" rIns="0" tIns="0" bIns="0">
            <a:spAutoFit/>
          </a:bodyPr>
          <a:lstStyle/>
          <a:p>
            <a:pPr>
              <a:spcAft>
                <a:spcPts val="800"/>
              </a:spcAft>
              <a:defRPr sz="2300" b="1">
                <a:solidFill>
                  <a:srgbClr val="486B52"/>
                </a:solidFill>
                <a:latin typeface="Calibri"/>
              </a:defRPr>
            </a:pPr>
            <a:r>
              <a:t>Decode + EXIF</a:t>
            </a:r>
          </a:p>
        </p:txBody>
      </p:sp>
      <p:sp>
        <p:nvSpPr>
          <p:cNvPr id="14" name="TextBox 13"/>
          <p:cNvSpPr txBox="1"/>
          <p:nvPr/>
        </p:nvSpPr>
        <p:spPr>
          <a:xfrm>
            <a:off x="4636008" y="2450592"/>
            <a:ext cx="2926080" cy="292608"/>
          </a:xfrm>
          <a:prstGeom prst="rect">
            <a:avLst/>
          </a:prstGeom>
          <a:noFill/>
        </p:spPr>
        <p:txBody>
          <a:bodyPr wrap="square" lIns="0" rIns="0" tIns="0" bIns="0">
            <a:spAutoFit/>
          </a:bodyPr>
          <a:lstStyle/>
          <a:p>
            <a:pPr>
              <a:spcAft>
                <a:spcPts val="800"/>
              </a:spcAft>
              <a:defRPr sz="1700" b="0">
                <a:solidFill>
                  <a:srgbClr val="59675F"/>
                </a:solidFill>
                <a:latin typeface="Calibri"/>
              </a:defRPr>
            </a:pPr>
            <a:r>
              <a:t>image_utils.py</a:t>
            </a:r>
          </a:p>
        </p:txBody>
      </p:sp>
      <p:cxnSp>
        <p:nvCxnSpPr>
          <p:cNvPr id="15" name="Connector 14"/>
          <p:cNvCxnSpPr/>
          <p:nvPr/>
        </p:nvCxnSpPr>
        <p:spPr>
          <a:xfrm>
            <a:off x="7680960" y="2377440"/>
            <a:ext cx="502919" cy="0"/>
          </a:xfrm>
          <a:prstGeom prst="line">
            <a:avLst/>
          </a:prstGeom>
          <a:ln w="19050">
            <a:solidFill>
              <a:srgbClr val="486B52"/>
            </a:solidFill>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8124444" y="2318004"/>
            <a:ext cx="118872" cy="118872"/>
          </a:xfrm>
          <a:prstGeom prst="triangle">
            <a:avLst/>
          </a:prstGeom>
          <a:solidFill>
            <a:srgbClr val="48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1920240"/>
            <a:ext cx="3154680" cy="914400"/>
          </a:xfrm>
          <a:prstGeom prst="rect">
            <a:avLst/>
          </a:prstGeom>
          <a:solidFill>
            <a:srgbClr val="EDF4EF"/>
          </a:solidFill>
          <a:ln>
            <a:solidFill>
              <a:srgbClr val="CC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2039112"/>
            <a:ext cx="2926080" cy="393192"/>
          </a:xfrm>
          <a:prstGeom prst="rect">
            <a:avLst/>
          </a:prstGeom>
          <a:noFill/>
        </p:spPr>
        <p:txBody>
          <a:bodyPr wrap="square" lIns="0" rIns="0" tIns="0" bIns="0">
            <a:spAutoFit/>
          </a:bodyPr>
          <a:lstStyle/>
          <a:p>
            <a:pPr>
              <a:spcAft>
                <a:spcPts val="800"/>
              </a:spcAft>
              <a:defRPr sz="2300" b="1">
                <a:solidFill>
                  <a:srgbClr val="486B52"/>
                </a:solidFill>
                <a:latin typeface="Calibri"/>
              </a:defRPr>
            </a:pPr>
            <a:r>
              <a:t>Grayscale array</a:t>
            </a:r>
          </a:p>
        </p:txBody>
      </p:sp>
      <p:sp>
        <p:nvSpPr>
          <p:cNvPr id="19" name="TextBox 18"/>
          <p:cNvSpPr txBox="1"/>
          <p:nvPr/>
        </p:nvSpPr>
        <p:spPr>
          <a:xfrm>
            <a:off x="8430768" y="2450592"/>
            <a:ext cx="2926080" cy="292608"/>
          </a:xfrm>
          <a:prstGeom prst="rect">
            <a:avLst/>
          </a:prstGeom>
          <a:noFill/>
        </p:spPr>
        <p:txBody>
          <a:bodyPr wrap="square" lIns="0" rIns="0" tIns="0" bIns="0">
            <a:spAutoFit/>
          </a:bodyPr>
          <a:lstStyle/>
          <a:p>
            <a:pPr>
              <a:spcAft>
                <a:spcPts val="800"/>
              </a:spcAft>
              <a:defRPr sz="1700" b="0">
                <a:solidFill>
                  <a:srgbClr val="59675F"/>
                </a:solidFill>
                <a:latin typeface="Calibri"/>
              </a:defRPr>
            </a:pPr>
            <a:r>
              <a:t>image_utils.py</a:t>
            </a:r>
          </a:p>
        </p:txBody>
      </p:sp>
      <p:cxnSp>
        <p:nvCxnSpPr>
          <p:cNvPr id="20" name="Connector 19"/>
          <p:cNvCxnSpPr/>
          <p:nvPr/>
        </p:nvCxnSpPr>
        <p:spPr>
          <a:xfrm>
            <a:off x="9875520" y="2834640"/>
            <a:ext cx="0" cy="365760"/>
          </a:xfrm>
          <a:prstGeom prst="line">
            <a:avLst/>
          </a:prstGeom>
          <a:ln w="19050">
            <a:solidFill>
              <a:srgbClr val="486B52"/>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0800000">
            <a:off x="9816084" y="3140964"/>
            <a:ext cx="118872" cy="118872"/>
          </a:xfrm>
          <a:prstGeom prst="triangle">
            <a:avLst/>
          </a:prstGeom>
          <a:solidFill>
            <a:srgbClr val="48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21040" y="3291840"/>
            <a:ext cx="3154680" cy="914400"/>
          </a:xfrm>
          <a:prstGeom prst="rect">
            <a:avLst/>
          </a:prstGeom>
          <a:solidFill>
            <a:srgbClr val="EDF4EF"/>
          </a:solidFill>
          <a:ln>
            <a:solidFill>
              <a:srgbClr val="CC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8" y="3410712"/>
            <a:ext cx="2926080" cy="393192"/>
          </a:xfrm>
          <a:prstGeom prst="rect">
            <a:avLst/>
          </a:prstGeom>
          <a:noFill/>
        </p:spPr>
        <p:txBody>
          <a:bodyPr wrap="square" lIns="0" rIns="0" tIns="0" bIns="0">
            <a:spAutoFit/>
          </a:bodyPr>
          <a:lstStyle/>
          <a:p>
            <a:pPr>
              <a:spcAft>
                <a:spcPts val="800"/>
              </a:spcAft>
              <a:defRPr sz="2300" b="1">
                <a:solidFill>
                  <a:srgbClr val="486B52"/>
                </a:solidFill>
                <a:latin typeface="Calibri"/>
              </a:defRPr>
            </a:pPr>
            <a:r>
              <a:t>Counts → p → H</a:t>
            </a:r>
          </a:p>
        </p:txBody>
      </p:sp>
      <p:sp>
        <p:nvSpPr>
          <p:cNvPr id="24" name="TextBox 23"/>
          <p:cNvSpPr txBox="1"/>
          <p:nvPr/>
        </p:nvSpPr>
        <p:spPr>
          <a:xfrm>
            <a:off x="8430768" y="3822191"/>
            <a:ext cx="2926080" cy="292608"/>
          </a:xfrm>
          <a:prstGeom prst="rect">
            <a:avLst/>
          </a:prstGeom>
          <a:noFill/>
        </p:spPr>
        <p:txBody>
          <a:bodyPr wrap="square" lIns="0" rIns="0" tIns="0" bIns="0">
            <a:spAutoFit/>
          </a:bodyPr>
          <a:lstStyle/>
          <a:p>
            <a:pPr>
              <a:spcAft>
                <a:spcPts val="800"/>
              </a:spcAft>
              <a:defRPr sz="1700" b="0">
                <a:solidFill>
                  <a:srgbClr val="59675F"/>
                </a:solidFill>
                <a:latin typeface="Calibri"/>
              </a:defRPr>
            </a:pPr>
            <a:r>
              <a:t>entropy.py</a:t>
            </a:r>
          </a:p>
        </p:txBody>
      </p:sp>
      <p:cxnSp>
        <p:nvCxnSpPr>
          <p:cNvPr id="25" name="Connector 24"/>
          <p:cNvCxnSpPr/>
          <p:nvPr/>
        </p:nvCxnSpPr>
        <p:spPr>
          <a:xfrm flipH="1">
            <a:off x="7818120" y="3749039"/>
            <a:ext cx="502920" cy="0"/>
          </a:xfrm>
          <a:prstGeom prst="line">
            <a:avLst/>
          </a:prstGeom>
          <a:ln w="19050">
            <a:solidFill>
              <a:srgbClr val="486B52"/>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16200000">
            <a:off x="7758684" y="3689603"/>
            <a:ext cx="118872" cy="118872"/>
          </a:xfrm>
          <a:prstGeom prst="triangle">
            <a:avLst/>
          </a:prstGeom>
          <a:solidFill>
            <a:srgbClr val="48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26280" y="3291840"/>
            <a:ext cx="3154680" cy="914400"/>
          </a:xfrm>
          <a:prstGeom prst="rect">
            <a:avLst/>
          </a:prstGeom>
          <a:solidFill>
            <a:srgbClr val="EDF4EF"/>
          </a:solidFill>
          <a:ln>
            <a:solidFill>
              <a:srgbClr val="CC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6008" y="3410712"/>
            <a:ext cx="2926080" cy="393192"/>
          </a:xfrm>
          <a:prstGeom prst="rect">
            <a:avLst/>
          </a:prstGeom>
          <a:noFill/>
        </p:spPr>
        <p:txBody>
          <a:bodyPr wrap="square" lIns="0" rIns="0" tIns="0" bIns="0">
            <a:spAutoFit/>
          </a:bodyPr>
          <a:lstStyle/>
          <a:p>
            <a:pPr>
              <a:spcAft>
                <a:spcPts val="800"/>
              </a:spcAft>
              <a:defRPr sz="2300" b="1">
                <a:solidFill>
                  <a:srgbClr val="486B52"/>
                </a:solidFill>
                <a:latin typeface="Calibri"/>
              </a:defRPr>
            </a:pPr>
            <a:r>
              <a:t>Hnorm + deficit</a:t>
            </a:r>
          </a:p>
        </p:txBody>
      </p:sp>
      <p:sp>
        <p:nvSpPr>
          <p:cNvPr id="29" name="TextBox 28"/>
          <p:cNvSpPr txBox="1"/>
          <p:nvPr/>
        </p:nvSpPr>
        <p:spPr>
          <a:xfrm>
            <a:off x="4636008" y="3822191"/>
            <a:ext cx="2926080" cy="292608"/>
          </a:xfrm>
          <a:prstGeom prst="rect">
            <a:avLst/>
          </a:prstGeom>
          <a:noFill/>
        </p:spPr>
        <p:txBody>
          <a:bodyPr wrap="square" lIns="0" rIns="0" tIns="0" bIns="0">
            <a:spAutoFit/>
          </a:bodyPr>
          <a:lstStyle/>
          <a:p>
            <a:pPr>
              <a:spcAft>
                <a:spcPts val="800"/>
              </a:spcAft>
              <a:defRPr sz="1700" b="0">
                <a:solidFill>
                  <a:srgbClr val="59675F"/>
                </a:solidFill>
                <a:latin typeface="Calibri"/>
              </a:defRPr>
            </a:pPr>
            <a:r>
              <a:t>entropy.py</a:t>
            </a:r>
          </a:p>
        </p:txBody>
      </p:sp>
      <p:cxnSp>
        <p:nvCxnSpPr>
          <p:cNvPr id="30" name="Connector 29"/>
          <p:cNvCxnSpPr/>
          <p:nvPr/>
        </p:nvCxnSpPr>
        <p:spPr>
          <a:xfrm flipH="1">
            <a:off x="4023360" y="3749039"/>
            <a:ext cx="502920" cy="0"/>
          </a:xfrm>
          <a:prstGeom prst="line">
            <a:avLst/>
          </a:prstGeom>
          <a:ln w="19050">
            <a:solidFill>
              <a:srgbClr val="486B52"/>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16200000">
            <a:off x="3963924" y="3689603"/>
            <a:ext cx="118872" cy="118872"/>
          </a:xfrm>
          <a:prstGeom prst="triangle">
            <a:avLst/>
          </a:prstGeom>
          <a:solidFill>
            <a:srgbClr val="486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3291840"/>
            <a:ext cx="3154680" cy="914400"/>
          </a:xfrm>
          <a:prstGeom prst="rect">
            <a:avLst/>
          </a:prstGeom>
          <a:solidFill>
            <a:srgbClr val="EDF4EF"/>
          </a:solidFill>
          <a:ln>
            <a:solidFill>
              <a:srgbClr val="CCD9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3410712"/>
            <a:ext cx="2926080" cy="393192"/>
          </a:xfrm>
          <a:prstGeom prst="rect">
            <a:avLst/>
          </a:prstGeom>
          <a:noFill/>
        </p:spPr>
        <p:txBody>
          <a:bodyPr wrap="square" lIns="0" rIns="0" tIns="0" bIns="0">
            <a:spAutoFit/>
          </a:bodyPr>
          <a:lstStyle/>
          <a:p>
            <a:pPr>
              <a:spcAft>
                <a:spcPts val="800"/>
              </a:spcAft>
              <a:defRPr sz="2300" b="1">
                <a:solidFill>
                  <a:srgbClr val="486B52"/>
                </a:solidFill>
                <a:latin typeface="Calibri"/>
              </a:defRPr>
            </a:pPr>
            <a:r>
              <a:t>Plots + CSV</a:t>
            </a:r>
          </a:p>
        </p:txBody>
      </p:sp>
      <p:sp>
        <p:nvSpPr>
          <p:cNvPr id="34" name="TextBox 33"/>
          <p:cNvSpPr txBox="1"/>
          <p:nvPr/>
        </p:nvSpPr>
        <p:spPr>
          <a:xfrm>
            <a:off x="841248" y="3822191"/>
            <a:ext cx="2926080" cy="292608"/>
          </a:xfrm>
          <a:prstGeom prst="rect">
            <a:avLst/>
          </a:prstGeom>
          <a:noFill/>
        </p:spPr>
        <p:txBody>
          <a:bodyPr wrap="square" lIns="0" rIns="0" tIns="0" bIns="0">
            <a:spAutoFit/>
          </a:bodyPr>
          <a:lstStyle/>
          <a:p>
            <a:pPr>
              <a:spcAft>
                <a:spcPts val="800"/>
              </a:spcAft>
              <a:defRPr sz="1700" b="0">
                <a:solidFill>
                  <a:srgbClr val="59675F"/>
                </a:solidFill>
                <a:latin typeface="Calibri"/>
              </a:defRPr>
            </a:pPr>
            <a:r>
              <a:t>app.py</a:t>
            </a:r>
          </a:p>
        </p:txBody>
      </p:sp>
      <p:sp>
        <p:nvSpPr>
          <p:cNvPr id="35" name="TextBox 34"/>
          <p:cNvSpPr txBox="1"/>
          <p:nvPr/>
        </p:nvSpPr>
        <p:spPr>
          <a:xfrm>
            <a:off x="822960" y="5166360"/>
            <a:ext cx="10698480" cy="822960"/>
          </a:xfrm>
          <a:prstGeom prst="rect">
            <a:avLst/>
          </a:prstGeom>
          <a:noFill/>
        </p:spPr>
        <p:txBody>
          <a:bodyPr wrap="square" lIns="0" rIns="0" tIns="0" bIns="0">
            <a:spAutoFit/>
          </a:bodyPr>
          <a:lstStyle/>
          <a:p>
            <a:pPr>
              <a:spcAft>
                <a:spcPts val="800"/>
              </a:spcAft>
              <a:defRPr sz="2200" b="0">
                <a:solidFill>
                  <a:srgbClr val="486B52"/>
                </a:solidFill>
                <a:latin typeface="Calibri"/>
              </a:defRPr>
            </a:pPr>
            <a:r>
              <a:t>RGB branch: loaded image → three 2D arrays → same analyze_image()</a:t>
            </a:r>
          </a:p>
          <a:p>
            <a:pPr>
              <a:spcAft>
                <a:spcPts val="800"/>
              </a:spcAft>
              <a:defRPr sz="2200" b="0">
                <a:solidFill>
                  <a:srgbClr val="486B52"/>
                </a:solidFill>
                <a:latin typeface="Calibri"/>
              </a:defRPr>
            </a:pPr>
            <a:r>
              <a:t>Comparison: repeat the grayscale pipeline for each uploaded 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Methodology: count, normalize, summarize</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07</a:t>
            </a:r>
          </a:p>
        </p:txBody>
      </p:sp>
      <p:graphicFrame>
        <p:nvGraphicFramePr>
          <p:cNvPr id="7" name="Table 6"/>
          <p:cNvGraphicFramePr>
            <a:graphicFrameLocks noGrp="1"/>
          </p:cNvGraphicFramePr>
          <p:nvPr/>
        </p:nvGraphicFramePr>
        <p:xfrm>
          <a:off x="685800" y="1874519"/>
          <a:ext cx="10835640" cy="2560320"/>
        </p:xfrm>
        <a:graphic>
          <a:graphicData uri="http://schemas.openxmlformats.org/drawingml/2006/table">
            <a:tbl>
              <a:tblPr firstRow="1" bandRow="1">
                <a:tableStyleId>{5C22544A-7EE6-4342-B048-85BDC9FD1C3A}</a:tableStyleId>
              </a:tblPr>
              <a:tblGrid>
                <a:gridCol w="1645920"/>
                <a:gridCol w="4937760"/>
                <a:gridCol w="4251960"/>
              </a:tblGrid>
              <a:tr h="512064">
                <a:tc>
                  <a:txBody>
                    <a:bodyPr/>
                    <a:lstStyle/>
                    <a:p>
                      <a:pPr>
                        <a:defRPr sz="2000" b="1">
                          <a:solidFill>
                            <a:srgbClr val="486B52"/>
                          </a:solidFill>
                          <a:latin typeface="Calibri"/>
                        </a:defRPr>
                      </a:pPr>
                      <a:r>
                        <a:t>Stage</a:t>
                      </a:r>
                    </a:p>
                  </a:txBody>
                  <a:tcPr marL="109728" marR="82296" marT="82296" marB="54864" anchor="ctr">
                    <a:solidFill>
                      <a:srgbClr val="EDF4EF"/>
                    </a:solidFill>
                  </a:tcPr>
                </a:tc>
                <a:tc>
                  <a:txBody>
                    <a:bodyPr/>
                    <a:lstStyle/>
                    <a:p>
                      <a:pPr>
                        <a:defRPr sz="2000" b="1">
                          <a:solidFill>
                            <a:srgbClr val="486B52"/>
                          </a:solidFill>
                          <a:latin typeface="Calibri"/>
                        </a:defRPr>
                      </a:pPr>
                      <a:r>
                        <a:t>Actual operation</a:t>
                      </a:r>
                    </a:p>
                  </a:txBody>
                  <a:tcPr marL="109728" marR="82296" marT="82296" marB="54864" anchor="ctr">
                    <a:solidFill>
                      <a:srgbClr val="EDF4EF"/>
                    </a:solidFill>
                  </a:tcPr>
                </a:tc>
                <a:tc>
                  <a:txBody>
                    <a:bodyPr/>
                    <a:lstStyle/>
                    <a:p>
                      <a:pPr>
                        <a:defRPr sz="2000" b="1">
                          <a:solidFill>
                            <a:srgbClr val="486B52"/>
                          </a:solidFill>
                          <a:latin typeface="Calibri"/>
                        </a:defRPr>
                      </a:pPr>
                      <a:r>
                        <a:t>Reason</a:t>
                      </a:r>
                    </a:p>
                  </a:txBody>
                  <a:tcPr marL="109728" marR="82296" marT="82296" marB="54864" anchor="ctr">
                    <a:solidFill>
                      <a:srgbClr val="EDF4EF"/>
                    </a:solidFill>
                  </a:tcPr>
                </a:tc>
              </a:tr>
              <a:tr h="512064">
                <a:tc>
                  <a:txBody>
                    <a:bodyPr/>
                    <a:lstStyle/>
                    <a:p>
                      <a:pPr>
                        <a:defRPr sz="2000" b="0">
                          <a:solidFill>
                            <a:srgbClr val="18221C"/>
                          </a:solidFill>
                          <a:latin typeface="Calibri"/>
                        </a:defRPr>
                      </a:pPr>
                      <a:r>
                        <a:t>Preprocess</a:t>
                      </a:r>
                    </a:p>
                  </a:txBody>
                  <a:tcPr marL="109728" marR="82296" marT="82296" marB="54864" anchor="ctr">
                    <a:solidFill>
                      <a:srgbClr val="FFFFFF"/>
                    </a:solidFill>
                  </a:tcPr>
                </a:tc>
                <a:tc>
                  <a:txBody>
                    <a:bodyPr/>
                    <a:lstStyle/>
                    <a:p>
                      <a:pPr>
                        <a:defRPr sz="2000" b="0">
                          <a:solidFill>
                            <a:srgbClr val="18221C"/>
                          </a:solidFill>
                          <a:latin typeface="Calibri"/>
                        </a:defRPr>
                      </a:pPr>
                      <a:r>
                        <a:t>EXIF transpose; convert("L")</a:t>
                      </a:r>
                    </a:p>
                  </a:txBody>
                  <a:tcPr marL="109728" marR="82296" marT="82296" marB="54864" anchor="ctr">
                    <a:solidFill>
                      <a:srgbClr val="FFFFFF"/>
                    </a:solidFill>
                  </a:tcPr>
                </a:tc>
                <a:tc>
                  <a:txBody>
                    <a:bodyPr/>
                    <a:lstStyle/>
                    <a:p>
                      <a:pPr>
                        <a:defRPr sz="2000" b="0">
                          <a:solidFill>
                            <a:srgbClr val="18221C"/>
                          </a:solidFill>
                          <a:latin typeface="Calibri"/>
                        </a:defRPr>
                      </a:pPr>
                      <a:r>
                        <a:t>Analyze a consistent 8-bit representation</a:t>
                      </a:r>
                    </a:p>
                  </a:txBody>
                  <a:tcPr marL="109728" marR="82296" marT="82296" marB="54864" anchor="ctr">
                    <a:solidFill>
                      <a:srgbClr val="FFFFFF"/>
                    </a:solidFill>
                  </a:tcPr>
                </a:tc>
              </a:tr>
              <a:tr h="512064">
                <a:tc>
                  <a:txBody>
                    <a:bodyPr/>
                    <a:lstStyle/>
                    <a:p>
                      <a:pPr>
                        <a:defRPr sz="2000" b="0">
                          <a:solidFill>
                            <a:srgbClr val="18221C"/>
                          </a:solidFill>
                          <a:latin typeface="Calibri"/>
                        </a:defRPr>
                      </a:pPr>
                      <a:r>
                        <a:t>Count</a:t>
                      </a:r>
                    </a:p>
                  </a:txBody>
                  <a:tcPr marL="109728" marR="82296" marT="82296" marB="54864" anchor="ctr">
                    <a:solidFill>
                      <a:srgbClr val="FFFFFF"/>
                    </a:solidFill>
                  </a:tcPr>
                </a:tc>
                <a:tc>
                  <a:txBody>
                    <a:bodyPr/>
                    <a:lstStyle/>
                    <a:p>
                      <a:pPr>
                        <a:defRPr sz="2000" b="0">
                          <a:solidFill>
                            <a:srgbClr val="18221C"/>
                          </a:solidFill>
                          <a:latin typeface="Calibri"/>
                        </a:defRPr>
                      </a:pPr>
                      <a:r>
                        <a:t>bincount(image.ravel(), minlength=256)</a:t>
                      </a:r>
                    </a:p>
                  </a:txBody>
                  <a:tcPr marL="109728" marR="82296" marT="82296" marB="54864" anchor="ctr">
                    <a:solidFill>
                      <a:srgbClr val="FFFFFF"/>
                    </a:solidFill>
                  </a:tcPr>
                </a:tc>
                <a:tc>
                  <a:txBody>
                    <a:bodyPr/>
                    <a:lstStyle/>
                    <a:p>
                      <a:pPr>
                        <a:defRPr sz="2000" b="0">
                          <a:solidFill>
                            <a:srgbClr val="18221C"/>
                          </a:solidFill>
                          <a:latin typeface="Calibri"/>
                        </a:defRPr>
                      </a:pPr>
                      <a:r>
                        <a:t>One frequency for every legal intensity</a:t>
                      </a:r>
                    </a:p>
                  </a:txBody>
                  <a:tcPr marL="109728" marR="82296" marT="82296" marB="54864" anchor="ctr">
                    <a:solidFill>
                      <a:srgbClr val="FFFFFF"/>
                    </a:solidFill>
                  </a:tcPr>
                </a:tc>
              </a:tr>
              <a:tr h="512064">
                <a:tc>
                  <a:txBody>
                    <a:bodyPr/>
                    <a:lstStyle/>
                    <a:p>
                      <a:pPr>
                        <a:defRPr sz="2000" b="0">
                          <a:solidFill>
                            <a:srgbClr val="18221C"/>
                          </a:solidFill>
                          <a:latin typeface="Calibri"/>
                        </a:defRPr>
                      </a:pPr>
                      <a:r>
                        <a:t>Normalize</a:t>
                      </a:r>
                    </a:p>
                  </a:txBody>
                  <a:tcPr marL="109728" marR="82296" marT="82296" marB="54864" anchor="ctr">
                    <a:solidFill>
                      <a:srgbClr val="FFFFFF"/>
                    </a:solidFill>
                  </a:tcPr>
                </a:tc>
                <a:tc>
                  <a:txBody>
                    <a:bodyPr/>
                    <a:lstStyle/>
                    <a:p>
                      <a:pPr>
                        <a:defRPr sz="2000" b="0">
                          <a:solidFill>
                            <a:srgbClr val="18221C"/>
                          </a:solidFill>
                          <a:latin typeface="Calibri"/>
                        </a:defRPr>
                      </a:pPr>
                      <a:r>
                        <a:t>p = histogram / histogram.sum()</a:t>
                      </a:r>
                    </a:p>
                  </a:txBody>
                  <a:tcPr marL="109728" marR="82296" marT="82296" marB="54864" anchor="ctr">
                    <a:solidFill>
                      <a:srgbClr val="FFFFFF"/>
                    </a:solidFill>
                  </a:tcPr>
                </a:tc>
                <a:tc>
                  <a:txBody>
                    <a:bodyPr/>
                    <a:lstStyle/>
                    <a:p>
                      <a:pPr>
                        <a:defRPr sz="2000" b="0">
                          <a:solidFill>
                            <a:srgbClr val="18221C"/>
                          </a:solidFill>
                          <a:latin typeface="Calibri"/>
                        </a:defRPr>
                      </a:pPr>
                      <a:r>
                        <a:t>Turn counts into empirical probabilities</a:t>
                      </a:r>
                    </a:p>
                  </a:txBody>
                  <a:tcPr marL="109728" marR="82296" marT="82296" marB="54864" anchor="ctr">
                    <a:solidFill>
                      <a:srgbClr val="FFFFFF"/>
                    </a:solidFill>
                  </a:tcPr>
                </a:tc>
              </a:tr>
              <a:tr h="512064">
                <a:tc>
                  <a:txBody>
                    <a:bodyPr/>
                    <a:lstStyle/>
                    <a:p>
                      <a:pPr>
                        <a:defRPr sz="2000" b="0">
                          <a:solidFill>
                            <a:srgbClr val="18221C"/>
                          </a:solidFill>
                          <a:latin typeface="Calibri"/>
                        </a:defRPr>
                      </a:pPr>
                      <a:r>
                        <a:t>Summarize</a:t>
                      </a:r>
                    </a:p>
                  </a:txBody>
                  <a:tcPr marL="109728" marR="82296" marT="82296" marB="54864" anchor="ctr">
                    <a:solidFill>
                      <a:srgbClr val="FFFFFF"/>
                    </a:solidFill>
                  </a:tcPr>
                </a:tc>
                <a:tc>
                  <a:txBody>
                    <a:bodyPr/>
                    <a:lstStyle/>
                    <a:p>
                      <a:pPr>
                        <a:defRPr sz="2000" b="0">
                          <a:solidFill>
                            <a:srgbClr val="18221C"/>
                          </a:solidFill>
                          <a:latin typeface="Calibri"/>
                        </a:defRPr>
                      </a:pPr>
                      <a:r>
                        <a:t>H = −sum(p[p&gt;0] × log₂(p[p&gt;0]))</a:t>
                      </a:r>
                    </a:p>
                  </a:txBody>
                  <a:tcPr marL="109728" marR="82296" marT="82296" marB="54864" anchor="ctr">
                    <a:solidFill>
                      <a:srgbClr val="FFFFFF"/>
                    </a:solidFill>
                  </a:tcPr>
                </a:tc>
                <a:tc>
                  <a:txBody>
                    <a:bodyPr/>
                    <a:lstStyle/>
                    <a:p>
                      <a:pPr>
                        <a:defRPr sz="2000" b="0">
                          <a:solidFill>
                            <a:srgbClr val="18221C"/>
                          </a:solidFill>
                          <a:latin typeface="Calibri"/>
                        </a:defRPr>
                      </a:pPr>
                      <a:r>
                        <a:t>Compute mean surprise without log₂(0)</a:t>
                      </a:r>
                    </a:p>
                  </a:txBody>
                  <a:tcPr marL="109728" marR="82296" marT="82296" marB="54864" anchor="ctr">
                    <a:solidFill>
                      <a:srgbClr val="FFFFFF"/>
                    </a:solidFill>
                  </a:tcPr>
                </a:tc>
              </a:tr>
            </a:tbl>
          </a:graphicData>
        </a:graphic>
      </p:graphicFrame>
      <p:sp>
        <p:nvSpPr>
          <p:cNvPr id="8" name="Rectangle 7"/>
          <p:cNvSpPr/>
          <p:nvPr/>
        </p:nvSpPr>
        <p:spPr>
          <a:xfrm>
            <a:off x="731520" y="5074920"/>
            <a:ext cx="10744200" cy="1051560"/>
          </a:xfrm>
          <a:prstGeom prst="rect">
            <a:avLst/>
          </a:prstGeom>
          <a:solidFill>
            <a:srgbClr val="ED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239512"/>
            <a:ext cx="10378440" cy="841248"/>
          </a:xfrm>
          <a:prstGeom prst="rect">
            <a:avLst/>
          </a:prstGeom>
          <a:noFill/>
        </p:spPr>
        <p:txBody>
          <a:bodyPr wrap="square" lIns="0" rIns="0" tIns="0" bIns="0">
            <a:spAutoFit/>
          </a:bodyPr>
          <a:lstStyle/>
          <a:p>
            <a:pPr>
              <a:spcAft>
                <a:spcPts val="800"/>
              </a:spcAft>
              <a:defRPr sz="2300" b="0">
                <a:solidFill>
                  <a:srgbClr val="486B52"/>
                </a:solidFill>
                <a:latin typeface="Calibri"/>
              </a:defRPr>
            </a:pPr>
            <a:r>
              <a:t>Hmax = 8     Hnorm = H/8     R = 100(1 − Hnorm)%</a:t>
            </a:r>
          </a:p>
          <a:p>
            <a:pPr>
              <a:spcAft>
                <a:spcPts val="800"/>
              </a:spcAft>
              <a:defRPr sz="2300" b="0">
                <a:solidFill>
                  <a:srgbClr val="486B52"/>
                </a:solidFill>
                <a:latin typeface="Calibri"/>
              </a:defRPr>
            </a:pPr>
            <a:r>
              <a:t>R is an entropy deficit, not a measured compression saving.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Implementation and technology stack</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08</a:t>
            </a:r>
          </a:p>
        </p:txBody>
      </p:sp>
      <p:graphicFrame>
        <p:nvGraphicFramePr>
          <p:cNvPr id="7" name="Table 6"/>
          <p:cNvGraphicFramePr>
            <a:graphicFrameLocks noGrp="1"/>
          </p:cNvGraphicFramePr>
          <p:nvPr/>
        </p:nvGraphicFramePr>
        <p:xfrm>
          <a:off x="731520" y="1828800"/>
          <a:ext cx="7086600" cy="4023360"/>
        </p:xfrm>
        <a:graphic>
          <a:graphicData uri="http://schemas.openxmlformats.org/drawingml/2006/table">
            <a:tbl>
              <a:tblPr firstRow="1" bandRow="1">
                <a:tableStyleId>{5C22544A-7EE6-4342-B048-85BDC9FD1C3A}</a:tableStyleId>
              </a:tblPr>
              <a:tblGrid>
                <a:gridCol w="1828800"/>
                <a:gridCol w="5257800"/>
              </a:tblGrid>
              <a:tr h="574765">
                <a:tc>
                  <a:txBody>
                    <a:bodyPr/>
                    <a:lstStyle/>
                    <a:p>
                      <a:pPr>
                        <a:defRPr sz="2100" b="1">
                          <a:solidFill>
                            <a:srgbClr val="486B52"/>
                          </a:solidFill>
                          <a:latin typeface="Calibri"/>
                        </a:defRPr>
                      </a:pPr>
                      <a:r>
                        <a:t>Library</a:t>
                      </a:r>
                    </a:p>
                  </a:txBody>
                  <a:tcPr marL="109728" marR="82296" marT="82296" marB="54864" anchor="ctr">
                    <a:solidFill>
                      <a:srgbClr val="EDF4EF"/>
                    </a:solidFill>
                  </a:tcPr>
                </a:tc>
                <a:tc>
                  <a:txBody>
                    <a:bodyPr/>
                    <a:lstStyle/>
                    <a:p>
                      <a:pPr>
                        <a:defRPr sz="2100" b="1">
                          <a:solidFill>
                            <a:srgbClr val="486B52"/>
                          </a:solidFill>
                          <a:latin typeface="Calibri"/>
                        </a:defRPr>
                      </a:pPr>
                      <a:r>
                        <a:t>Role in this project</a:t>
                      </a:r>
                    </a:p>
                  </a:txBody>
                  <a:tcPr marL="109728" marR="82296" marT="82296" marB="54864" anchor="ctr">
                    <a:solidFill>
                      <a:srgbClr val="EDF4EF"/>
                    </a:solidFill>
                  </a:tcPr>
                </a:tc>
              </a:tr>
              <a:tr h="574765">
                <a:tc>
                  <a:txBody>
                    <a:bodyPr/>
                    <a:lstStyle/>
                    <a:p>
                      <a:pPr>
                        <a:defRPr sz="2100" b="0">
                          <a:solidFill>
                            <a:srgbClr val="18221C"/>
                          </a:solidFill>
                          <a:latin typeface="Calibri"/>
                        </a:defRPr>
                      </a:pPr>
                      <a:r>
                        <a:t>Python</a:t>
                      </a:r>
                    </a:p>
                  </a:txBody>
                  <a:tcPr marL="109728" marR="82296" marT="82296" marB="54864" anchor="ctr">
                    <a:solidFill>
                      <a:srgbClr val="FFFFFF"/>
                    </a:solidFill>
                  </a:tcPr>
                </a:tc>
                <a:tc>
                  <a:txBody>
                    <a:bodyPr/>
                    <a:lstStyle/>
                    <a:p>
                      <a:pPr>
                        <a:defRPr sz="2100" b="0">
                          <a:solidFill>
                            <a:srgbClr val="18221C"/>
                          </a:solidFill>
                          <a:latin typeface="Calibri"/>
                        </a:defRPr>
                      </a:pPr>
                      <a:r>
                        <a:t>Module structure, functions and control flow</a:t>
                      </a:r>
                    </a:p>
                  </a:txBody>
                  <a:tcPr marL="109728" marR="82296" marT="82296" marB="54864" anchor="ctr">
                    <a:solidFill>
                      <a:srgbClr val="FFFFFF"/>
                    </a:solidFill>
                  </a:tcPr>
                </a:tc>
              </a:tr>
              <a:tr h="574765">
                <a:tc>
                  <a:txBody>
                    <a:bodyPr/>
                    <a:lstStyle/>
                    <a:p>
                      <a:pPr>
                        <a:defRPr sz="2100" b="0">
                          <a:solidFill>
                            <a:srgbClr val="18221C"/>
                          </a:solidFill>
                          <a:latin typeface="Calibri"/>
                        </a:defRPr>
                      </a:pPr>
                      <a:r>
                        <a:t>Streamlit</a:t>
                      </a:r>
                    </a:p>
                  </a:txBody>
                  <a:tcPr marL="109728" marR="82296" marT="82296" marB="54864" anchor="ctr">
                    <a:solidFill>
                      <a:srgbClr val="FFFFFF"/>
                    </a:solidFill>
                  </a:tcPr>
                </a:tc>
                <a:tc>
                  <a:txBody>
                    <a:bodyPr/>
                    <a:lstStyle/>
                    <a:p>
                      <a:pPr>
                        <a:defRPr sz="2100" b="0">
                          <a:solidFill>
                            <a:srgbClr val="18221C"/>
                          </a:solidFill>
                          <a:latin typeface="Calibri"/>
                        </a:defRPr>
                      </a:pPr>
                      <a:r>
                        <a:t>Uploads, tabs, caching, tables and downloads</a:t>
                      </a:r>
                    </a:p>
                  </a:txBody>
                  <a:tcPr marL="109728" marR="82296" marT="82296" marB="54864" anchor="ctr">
                    <a:solidFill>
                      <a:srgbClr val="FFFFFF"/>
                    </a:solidFill>
                  </a:tcPr>
                </a:tc>
              </a:tr>
              <a:tr h="574765">
                <a:tc>
                  <a:txBody>
                    <a:bodyPr/>
                    <a:lstStyle/>
                    <a:p>
                      <a:pPr>
                        <a:defRPr sz="2100" b="0">
                          <a:solidFill>
                            <a:srgbClr val="18221C"/>
                          </a:solidFill>
                          <a:latin typeface="Calibri"/>
                        </a:defRPr>
                      </a:pPr>
                      <a:r>
                        <a:t>Pillow</a:t>
                      </a:r>
                    </a:p>
                  </a:txBody>
                  <a:tcPr marL="109728" marR="82296" marT="82296" marB="54864" anchor="ctr">
                    <a:solidFill>
                      <a:srgbClr val="FFFFFF"/>
                    </a:solidFill>
                  </a:tcPr>
                </a:tc>
                <a:tc>
                  <a:txBody>
                    <a:bodyPr/>
                    <a:lstStyle/>
                    <a:p>
                      <a:pPr>
                        <a:defRPr sz="2100" b="0">
                          <a:solidFill>
                            <a:srgbClr val="18221C"/>
                          </a:solidFill>
                          <a:latin typeface="Calibri"/>
                        </a:defRPr>
                      </a:pPr>
                      <a:r>
                        <a:t>Decode bytes, correct EXIF, grayscale/RGB conversion</a:t>
                      </a:r>
                    </a:p>
                  </a:txBody>
                  <a:tcPr marL="109728" marR="82296" marT="82296" marB="54864" anchor="ctr">
                    <a:solidFill>
                      <a:srgbClr val="FFFFFF"/>
                    </a:solidFill>
                  </a:tcPr>
                </a:tc>
              </a:tr>
              <a:tr h="574765">
                <a:tc>
                  <a:txBody>
                    <a:bodyPr/>
                    <a:lstStyle/>
                    <a:p>
                      <a:pPr>
                        <a:defRPr sz="2100" b="0">
                          <a:solidFill>
                            <a:srgbClr val="18221C"/>
                          </a:solidFill>
                          <a:latin typeface="Calibri"/>
                        </a:defRPr>
                      </a:pPr>
                      <a:r>
                        <a:t>NumPy</a:t>
                      </a:r>
                    </a:p>
                  </a:txBody>
                  <a:tcPr marL="109728" marR="82296" marT="82296" marB="54864" anchor="ctr">
                    <a:solidFill>
                      <a:srgbClr val="FFFFFF"/>
                    </a:solidFill>
                  </a:tcPr>
                </a:tc>
                <a:tc>
                  <a:txBody>
                    <a:bodyPr/>
                    <a:lstStyle/>
                    <a:p>
                      <a:pPr>
                        <a:defRPr sz="2100" b="0">
                          <a:solidFill>
                            <a:srgbClr val="18221C"/>
                          </a:solidFill>
                          <a:latin typeface="Calibri"/>
                        </a:defRPr>
                      </a:pPr>
                      <a:r>
                        <a:t>Arrays, counting, probabilities and log₂</a:t>
                      </a:r>
                    </a:p>
                  </a:txBody>
                  <a:tcPr marL="109728" marR="82296" marT="82296" marB="54864" anchor="ctr">
                    <a:solidFill>
                      <a:srgbClr val="FFFFFF"/>
                    </a:solidFill>
                  </a:tcPr>
                </a:tc>
              </a:tr>
              <a:tr h="574765">
                <a:tc>
                  <a:txBody>
                    <a:bodyPr/>
                    <a:lstStyle/>
                    <a:p>
                      <a:pPr>
                        <a:defRPr sz="2100" b="0">
                          <a:solidFill>
                            <a:srgbClr val="18221C"/>
                          </a:solidFill>
                          <a:latin typeface="Calibri"/>
                        </a:defRPr>
                      </a:pPr>
                      <a:r>
                        <a:t>Matplotlib</a:t>
                      </a:r>
                    </a:p>
                  </a:txBody>
                  <a:tcPr marL="109728" marR="82296" marT="82296" marB="54864" anchor="ctr">
                    <a:solidFill>
                      <a:srgbClr val="FFFFFF"/>
                    </a:solidFill>
                  </a:tcPr>
                </a:tc>
                <a:tc>
                  <a:txBody>
                    <a:bodyPr/>
                    <a:lstStyle/>
                    <a:p>
                      <a:pPr>
                        <a:defRPr sz="2100" b="0">
                          <a:solidFill>
                            <a:srgbClr val="18221C"/>
                          </a:solidFill>
                          <a:latin typeface="Calibri"/>
                        </a:defRPr>
                      </a:pPr>
                      <a:r>
                        <a:t>Histogram, probability and entropy comparison plots</a:t>
                      </a:r>
                    </a:p>
                  </a:txBody>
                  <a:tcPr marL="109728" marR="82296" marT="82296" marB="54864" anchor="ctr">
                    <a:solidFill>
                      <a:srgbClr val="FFFFFF"/>
                    </a:solidFill>
                  </a:tcPr>
                </a:tc>
              </a:tr>
              <a:tr h="574770">
                <a:tc>
                  <a:txBody>
                    <a:bodyPr/>
                    <a:lstStyle/>
                    <a:p>
                      <a:pPr>
                        <a:defRPr sz="2100" b="0">
                          <a:solidFill>
                            <a:srgbClr val="18221C"/>
                          </a:solidFill>
                          <a:latin typeface="Calibri"/>
                        </a:defRPr>
                      </a:pPr>
                      <a:r>
                        <a:t>Pandas</a:t>
                      </a:r>
                    </a:p>
                  </a:txBody>
                  <a:tcPr marL="109728" marR="82296" marT="82296" marB="54864" anchor="ctr">
                    <a:solidFill>
                      <a:srgbClr val="FFFFFF"/>
                    </a:solidFill>
                  </a:tcPr>
                </a:tc>
                <a:tc>
                  <a:txBody>
                    <a:bodyPr/>
                    <a:lstStyle/>
                    <a:p>
                      <a:pPr>
                        <a:defRPr sz="2100" b="0">
                          <a:solidFill>
                            <a:srgbClr val="18221C"/>
                          </a:solidFill>
                          <a:latin typeface="Calibri"/>
                        </a:defRPr>
                      </a:pPr>
                      <a:r>
                        <a:t>Result DataFrames and CSV text</a:t>
                      </a:r>
                    </a:p>
                  </a:txBody>
                  <a:tcPr marL="109728" marR="82296" marT="82296" marB="54864" anchor="ctr">
                    <a:solidFill>
                      <a:srgbClr val="FFFFFF"/>
                    </a:solidFill>
                  </a:tcPr>
                </a:tc>
              </a:tr>
            </a:tbl>
          </a:graphicData>
        </a:graphic>
      </p:graphicFrame>
      <p:sp>
        <p:nvSpPr>
          <p:cNvPr id="8" name="TextBox 7"/>
          <p:cNvSpPr txBox="1"/>
          <p:nvPr/>
        </p:nvSpPr>
        <p:spPr>
          <a:xfrm>
            <a:off x="8275320" y="1938528"/>
            <a:ext cx="3200400" cy="457200"/>
          </a:xfrm>
          <a:prstGeom prst="rect">
            <a:avLst/>
          </a:prstGeom>
          <a:noFill/>
        </p:spPr>
        <p:txBody>
          <a:bodyPr wrap="square" lIns="0" rIns="0" tIns="0" bIns="0">
            <a:spAutoFit/>
          </a:bodyPr>
          <a:lstStyle/>
          <a:p>
            <a:pPr>
              <a:spcAft>
                <a:spcPts val="800"/>
              </a:spcAft>
              <a:defRPr sz="2400" b="1">
                <a:solidFill>
                  <a:srgbClr val="486B52"/>
                </a:solidFill>
                <a:latin typeface="Calibri"/>
              </a:defRPr>
            </a:pPr>
            <a:r>
              <a:t>Project files</a:t>
            </a:r>
          </a:p>
        </p:txBody>
      </p:sp>
      <p:sp>
        <p:nvSpPr>
          <p:cNvPr id="9" name="TextBox 8"/>
          <p:cNvSpPr txBox="1"/>
          <p:nvPr/>
        </p:nvSpPr>
        <p:spPr>
          <a:xfrm>
            <a:off x="8275320" y="2606040"/>
            <a:ext cx="3200400" cy="2468880"/>
          </a:xfrm>
          <a:prstGeom prst="rect">
            <a:avLst/>
          </a:prstGeom>
          <a:noFill/>
        </p:spPr>
        <p:txBody>
          <a:bodyPr wrap="square" lIns="0" rIns="0" tIns="0" bIns="0">
            <a:spAutoFit/>
          </a:bodyPr>
          <a:lstStyle/>
          <a:p>
            <a:pPr>
              <a:spcAft>
                <a:spcPts val="800"/>
              </a:spcAft>
              <a:defRPr sz="2200" b="0">
                <a:solidFill>
                  <a:srgbClr val="18221C"/>
                </a:solidFill>
                <a:latin typeface="Consolas"/>
              </a:defRPr>
            </a:pPr>
            <a:r>
              <a:t>app.py</a:t>
            </a:r>
          </a:p>
          <a:p>
            <a:pPr>
              <a:spcAft>
                <a:spcPts val="800"/>
              </a:spcAft>
              <a:defRPr sz="2200" b="0">
                <a:solidFill>
                  <a:srgbClr val="18221C"/>
                </a:solidFill>
                <a:latin typeface="Consolas"/>
              </a:defRPr>
            </a:pPr>
            <a:r>
              <a:t>entropy.py</a:t>
            </a:r>
          </a:p>
          <a:p>
            <a:pPr>
              <a:spcAft>
                <a:spcPts val="800"/>
              </a:spcAft>
              <a:defRPr sz="2200" b="0">
                <a:solidFill>
                  <a:srgbClr val="18221C"/>
                </a:solidFill>
                <a:latin typeface="Consolas"/>
              </a:defRPr>
            </a:pPr>
            <a:r>
              <a:t>image_utils.py</a:t>
            </a:r>
          </a:p>
          <a:p>
            <a:pPr>
              <a:spcAft>
                <a:spcPts val="800"/>
              </a:spcAft>
              <a:defRPr sz="2200" b="0">
                <a:solidFill>
                  <a:srgbClr val="18221C"/>
                </a:solidFill>
                <a:latin typeface="Consolas"/>
              </a:defRPr>
            </a:pPr>
            <a:r>
              <a:t>requirements.txt</a:t>
            </a:r>
          </a:p>
          <a:p>
            <a:pPr>
              <a:spcAft>
                <a:spcPts val="800"/>
              </a:spcAft>
              <a:defRPr sz="2200" b="0">
                <a:solidFill>
                  <a:srgbClr val="18221C"/>
                </a:solidFill>
                <a:latin typeface="Consolas"/>
              </a:defRPr>
            </a:pPr>
            <a:r>
              <a:t>README.md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Application walkthrough: actual running interface</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Genuine Streamlit screenshots · Synthetic colour_demo.png · Full captures retained in documentation/assets/</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09</a:t>
            </a:r>
          </a:p>
        </p:txBody>
      </p:sp>
      <p:pic>
        <p:nvPicPr>
          <p:cNvPr id="7" name="Picture 6" descr="app_metrics.png"/>
          <p:cNvPicPr>
            <a:picLocks noChangeAspect="1"/>
          </p:cNvPicPr>
          <p:nvPr/>
        </p:nvPicPr>
        <p:blipFill>
          <a:blip r:embed="rId2"/>
          <a:stretch>
            <a:fillRect/>
          </a:stretch>
        </p:blipFill>
        <p:spPr>
          <a:xfrm>
            <a:off x="1392775" y="1828800"/>
            <a:ext cx="9375968" cy="777240"/>
          </a:xfrm>
          <a:prstGeom prst="rect">
            <a:avLst/>
          </a:prstGeom>
        </p:spPr>
      </p:pic>
      <p:pic>
        <p:nvPicPr>
          <p:cNvPr id="8" name="Picture 7" descr="walkthrough_plots.png"/>
          <p:cNvPicPr>
            <a:picLocks noChangeAspect="1"/>
          </p:cNvPicPr>
          <p:nvPr/>
        </p:nvPicPr>
        <p:blipFill>
          <a:blip r:embed="rId3"/>
          <a:stretch>
            <a:fillRect/>
          </a:stretch>
        </p:blipFill>
        <p:spPr>
          <a:xfrm>
            <a:off x="731520" y="3190940"/>
            <a:ext cx="6858000" cy="1939158"/>
          </a:xfrm>
          <a:prstGeom prst="rect">
            <a:avLst/>
          </a:prstGeom>
        </p:spPr>
      </p:pic>
      <p:pic>
        <p:nvPicPr>
          <p:cNvPr id="9" name="Picture 8" descr="walkthrough_rgb.png"/>
          <p:cNvPicPr>
            <a:picLocks noChangeAspect="1"/>
          </p:cNvPicPr>
          <p:nvPr/>
        </p:nvPicPr>
        <p:blipFill>
          <a:blip r:embed="rId4"/>
          <a:stretch>
            <a:fillRect/>
          </a:stretch>
        </p:blipFill>
        <p:spPr>
          <a:xfrm>
            <a:off x="7818120" y="3265905"/>
            <a:ext cx="3566160" cy="1789228"/>
          </a:xfrm>
          <a:prstGeom prst="rect">
            <a:avLst/>
          </a:prstGeom>
        </p:spPr>
      </p:pic>
      <p:sp>
        <p:nvSpPr>
          <p:cNvPr id="10" name="TextBox 9"/>
          <p:cNvSpPr txBox="1"/>
          <p:nvPr/>
        </p:nvSpPr>
        <p:spPr>
          <a:xfrm>
            <a:off x="7863840" y="5486400"/>
            <a:ext cx="3566160" cy="365760"/>
          </a:xfrm>
          <a:prstGeom prst="rect">
            <a:avLst/>
          </a:prstGeom>
          <a:noFill/>
        </p:spPr>
        <p:txBody>
          <a:bodyPr wrap="square" lIns="0" rIns="0" tIns="0" bIns="0">
            <a:spAutoFit/>
          </a:bodyPr>
          <a:lstStyle/>
          <a:p>
            <a:pPr>
              <a:spcAft>
                <a:spcPts val="800"/>
              </a:spcAft>
              <a:defRPr sz="1900" b="0">
                <a:solidFill>
                  <a:srgbClr val="486B52"/>
                </a:solidFill>
                <a:latin typeface="Calibri"/>
              </a:defRPr>
            </a:pPr>
            <a:r>
              <a:t>R = G ≈ 6.518; B = 0</a:t>
            </a:r>
          </a:p>
        </p:txBody>
      </p:sp>
      <p:sp>
        <p:nvSpPr>
          <p:cNvPr id="11" name="TextBox 10"/>
          <p:cNvSpPr txBox="1"/>
          <p:nvPr/>
        </p:nvSpPr>
        <p:spPr>
          <a:xfrm>
            <a:off x="777240" y="5760720"/>
            <a:ext cx="10881360" cy="365760"/>
          </a:xfrm>
          <a:prstGeom prst="rect">
            <a:avLst/>
          </a:prstGeom>
          <a:noFill/>
        </p:spPr>
        <p:txBody>
          <a:bodyPr wrap="square" lIns="0" rIns="0" tIns="0" bIns="0">
            <a:spAutoFit/>
          </a:bodyPr>
          <a:lstStyle/>
          <a:p>
            <a:pPr>
              <a:spcAft>
                <a:spcPts val="800"/>
              </a:spcAft>
              <a:defRPr sz="1900" b="0">
                <a:solidFill>
                  <a:srgbClr val="486B52"/>
                </a:solidFill>
                <a:latin typeface="Calibri"/>
              </a:defRPr>
            </a:pPr>
            <a:r>
              <a:t>Upload → original / grayscale preview → metrics → distributions → independent RGB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Worked example: [0, 0, 0, 255]</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10</a:t>
            </a:r>
          </a:p>
        </p:txBody>
      </p:sp>
      <p:graphicFrame>
        <p:nvGraphicFramePr>
          <p:cNvPr id="7" name="Table 6"/>
          <p:cNvGraphicFramePr>
            <a:graphicFrameLocks noGrp="1"/>
          </p:cNvGraphicFramePr>
          <p:nvPr/>
        </p:nvGraphicFramePr>
        <p:xfrm>
          <a:off x="777240" y="1874519"/>
          <a:ext cx="4663440" cy="1600200"/>
        </p:xfrm>
        <a:graphic>
          <a:graphicData uri="http://schemas.openxmlformats.org/drawingml/2006/table">
            <a:tbl>
              <a:tblPr firstRow="1" bandRow="1">
                <a:tableStyleId>{5C22544A-7EE6-4342-B048-85BDC9FD1C3A}</a:tableStyleId>
              </a:tblPr>
              <a:tblGrid>
                <a:gridCol w="1554480"/>
                <a:gridCol w="1554480"/>
                <a:gridCol w="1554480"/>
              </a:tblGrid>
              <a:tr h="533400">
                <a:tc>
                  <a:txBody>
                    <a:bodyPr/>
                    <a:lstStyle/>
                    <a:p>
                      <a:pPr>
                        <a:defRPr sz="2300" b="1">
                          <a:solidFill>
                            <a:srgbClr val="486B52"/>
                          </a:solidFill>
                          <a:latin typeface="Calibri"/>
                        </a:defRPr>
                      </a:pPr>
                      <a:r>
                        <a:t>Intensity</a:t>
                      </a:r>
                    </a:p>
                  </a:txBody>
                  <a:tcPr marL="109728" marR="82296" marT="82296" marB="54864" anchor="ctr">
                    <a:solidFill>
                      <a:srgbClr val="EDF4EF"/>
                    </a:solidFill>
                  </a:tcPr>
                </a:tc>
                <a:tc>
                  <a:txBody>
                    <a:bodyPr/>
                    <a:lstStyle/>
                    <a:p>
                      <a:pPr>
                        <a:defRPr sz="2300" b="1">
                          <a:solidFill>
                            <a:srgbClr val="486B52"/>
                          </a:solidFill>
                          <a:latin typeface="Calibri"/>
                        </a:defRPr>
                      </a:pPr>
                      <a:r>
                        <a:t>Frequency</a:t>
                      </a:r>
                    </a:p>
                  </a:txBody>
                  <a:tcPr marL="109728" marR="82296" marT="82296" marB="54864" anchor="ctr">
                    <a:solidFill>
                      <a:srgbClr val="EDF4EF"/>
                    </a:solidFill>
                  </a:tcPr>
                </a:tc>
                <a:tc>
                  <a:txBody>
                    <a:bodyPr/>
                    <a:lstStyle/>
                    <a:p>
                      <a:pPr>
                        <a:defRPr sz="2300" b="1">
                          <a:solidFill>
                            <a:srgbClr val="486B52"/>
                          </a:solidFill>
                          <a:latin typeface="Calibri"/>
                        </a:defRPr>
                      </a:pPr>
                      <a:r>
                        <a:t>Probability</a:t>
                      </a:r>
                    </a:p>
                  </a:txBody>
                  <a:tcPr marL="109728" marR="82296" marT="82296" marB="54864" anchor="ctr">
                    <a:solidFill>
                      <a:srgbClr val="EDF4EF"/>
                    </a:solidFill>
                  </a:tcPr>
                </a:tc>
              </a:tr>
              <a:tr h="533400">
                <a:tc>
                  <a:txBody>
                    <a:bodyPr/>
                    <a:lstStyle/>
                    <a:p>
                      <a:pPr>
                        <a:defRPr sz="2300" b="0">
                          <a:solidFill>
                            <a:srgbClr val="18221C"/>
                          </a:solidFill>
                          <a:latin typeface="Calibri"/>
                        </a:defRPr>
                      </a:pPr>
                      <a:r>
                        <a:t>0</a:t>
                      </a:r>
                    </a:p>
                  </a:txBody>
                  <a:tcPr marL="109728" marR="82296" marT="82296" marB="54864" anchor="ctr">
                    <a:solidFill>
                      <a:srgbClr val="FFFFFF"/>
                    </a:solidFill>
                  </a:tcPr>
                </a:tc>
                <a:tc>
                  <a:txBody>
                    <a:bodyPr/>
                    <a:lstStyle/>
                    <a:p>
                      <a:pPr>
                        <a:defRPr sz="2300" b="0">
                          <a:solidFill>
                            <a:srgbClr val="18221C"/>
                          </a:solidFill>
                          <a:latin typeface="Calibri"/>
                        </a:defRPr>
                      </a:pPr>
                      <a:r>
                        <a:t>3</a:t>
                      </a:r>
                    </a:p>
                  </a:txBody>
                  <a:tcPr marL="109728" marR="82296" marT="82296" marB="54864" anchor="ctr">
                    <a:solidFill>
                      <a:srgbClr val="FFFFFF"/>
                    </a:solidFill>
                  </a:tcPr>
                </a:tc>
                <a:tc>
                  <a:txBody>
                    <a:bodyPr/>
                    <a:lstStyle/>
                    <a:p>
                      <a:pPr>
                        <a:defRPr sz="2300" b="0">
                          <a:solidFill>
                            <a:srgbClr val="18221C"/>
                          </a:solidFill>
                          <a:latin typeface="Calibri"/>
                        </a:defRPr>
                      </a:pPr>
                      <a:r>
                        <a:t>0.75</a:t>
                      </a:r>
                    </a:p>
                  </a:txBody>
                  <a:tcPr marL="109728" marR="82296" marT="82296" marB="54864" anchor="ctr">
                    <a:solidFill>
                      <a:srgbClr val="FFFFFF"/>
                    </a:solidFill>
                  </a:tcPr>
                </a:tc>
              </a:tr>
              <a:tr h="533400">
                <a:tc>
                  <a:txBody>
                    <a:bodyPr/>
                    <a:lstStyle/>
                    <a:p>
                      <a:pPr>
                        <a:defRPr sz="2300" b="0">
                          <a:solidFill>
                            <a:srgbClr val="18221C"/>
                          </a:solidFill>
                          <a:latin typeface="Calibri"/>
                        </a:defRPr>
                      </a:pPr>
                      <a:r>
                        <a:t>255</a:t>
                      </a:r>
                    </a:p>
                  </a:txBody>
                  <a:tcPr marL="109728" marR="82296" marT="82296" marB="54864" anchor="ctr">
                    <a:solidFill>
                      <a:srgbClr val="FFFFFF"/>
                    </a:solidFill>
                  </a:tcPr>
                </a:tc>
                <a:tc>
                  <a:txBody>
                    <a:bodyPr/>
                    <a:lstStyle/>
                    <a:p>
                      <a:pPr>
                        <a:defRPr sz="2300" b="0">
                          <a:solidFill>
                            <a:srgbClr val="18221C"/>
                          </a:solidFill>
                          <a:latin typeface="Calibri"/>
                        </a:defRPr>
                      </a:pPr>
                      <a:r>
                        <a:t>1</a:t>
                      </a:r>
                    </a:p>
                  </a:txBody>
                  <a:tcPr marL="109728" marR="82296" marT="82296" marB="54864" anchor="ctr">
                    <a:solidFill>
                      <a:srgbClr val="FFFFFF"/>
                    </a:solidFill>
                  </a:tcPr>
                </a:tc>
                <a:tc>
                  <a:txBody>
                    <a:bodyPr/>
                    <a:lstStyle/>
                    <a:p>
                      <a:pPr>
                        <a:defRPr sz="2300" b="0">
                          <a:solidFill>
                            <a:srgbClr val="18221C"/>
                          </a:solidFill>
                          <a:latin typeface="Calibri"/>
                        </a:defRPr>
                      </a:pPr>
                      <a:r>
                        <a:t>0.25</a:t>
                      </a:r>
                    </a:p>
                  </a:txBody>
                  <a:tcPr marL="109728" marR="82296" marT="82296" marB="54864" anchor="ctr">
                    <a:solidFill>
                      <a:srgbClr val="FFFFFF"/>
                    </a:solidFill>
                  </a:tcPr>
                </a:tc>
              </a:tr>
            </a:tbl>
          </a:graphicData>
        </a:graphic>
      </p:graphicFrame>
      <p:sp>
        <p:nvSpPr>
          <p:cNvPr id="8" name="TextBox 7"/>
          <p:cNvSpPr txBox="1"/>
          <p:nvPr/>
        </p:nvSpPr>
        <p:spPr>
          <a:xfrm>
            <a:off x="6035040" y="1965960"/>
            <a:ext cx="5303520" cy="1645920"/>
          </a:xfrm>
          <a:prstGeom prst="rect">
            <a:avLst/>
          </a:prstGeom>
          <a:noFill/>
        </p:spPr>
        <p:txBody>
          <a:bodyPr wrap="square" lIns="0" rIns="0" tIns="0" bIns="0">
            <a:spAutoFit/>
          </a:bodyPr>
          <a:lstStyle/>
          <a:p>
            <a:pPr>
              <a:spcAft>
                <a:spcPts val="800"/>
              </a:spcAft>
              <a:defRPr sz="2600" b="0">
                <a:solidFill>
                  <a:srgbClr val="486B52"/>
                </a:solidFill>
                <a:latin typeface="Cambria Math"/>
              </a:defRPr>
            </a:pPr>
            <a:r>
              <a:t>H = −(0.75 log₂ 0.75</a:t>
            </a:r>
          </a:p>
          <a:p>
            <a:pPr>
              <a:spcAft>
                <a:spcPts val="800"/>
              </a:spcAft>
              <a:defRPr sz="2600" b="0">
                <a:solidFill>
                  <a:srgbClr val="486B52"/>
                </a:solidFill>
                <a:latin typeface="Cambria Math"/>
              </a:defRPr>
            </a:pPr>
            <a:r>
              <a:t>       + 0.25 log₂ 0.25)</a:t>
            </a:r>
          </a:p>
          <a:p>
            <a:pPr>
              <a:spcAft>
                <a:spcPts val="800"/>
              </a:spcAft>
              <a:defRPr sz="2600" b="0">
                <a:solidFill>
                  <a:srgbClr val="486B52"/>
                </a:solidFill>
                <a:latin typeface="Cambria Math"/>
              </a:defRPr>
            </a:pPr>
            <a:r>
              <a:t>   = 0.811278 bits/pixel</a:t>
            </a:r>
          </a:p>
        </p:txBody>
      </p:sp>
      <p:sp>
        <p:nvSpPr>
          <p:cNvPr id="9" name="Rectangle 8"/>
          <p:cNvSpPr/>
          <p:nvPr/>
        </p:nvSpPr>
        <p:spPr>
          <a:xfrm>
            <a:off x="777240" y="4069080"/>
            <a:ext cx="10607040" cy="1280160"/>
          </a:xfrm>
          <a:prstGeom prst="rect">
            <a:avLst/>
          </a:prstGeom>
          <a:solidFill>
            <a:srgbClr val="ED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61104"/>
            <a:ext cx="10241280" cy="914400"/>
          </a:xfrm>
          <a:prstGeom prst="rect">
            <a:avLst/>
          </a:prstGeom>
          <a:noFill/>
        </p:spPr>
        <p:txBody>
          <a:bodyPr wrap="square" lIns="0" rIns="0" tIns="0" bIns="0">
            <a:spAutoFit/>
          </a:bodyPr>
          <a:lstStyle/>
          <a:p>
            <a:pPr>
              <a:spcAft>
                <a:spcPts val="800"/>
              </a:spcAft>
              <a:defRPr sz="2600" b="0">
                <a:solidFill>
                  <a:srgbClr val="486B52"/>
                </a:solidFill>
                <a:latin typeface="Calibri"/>
              </a:defRPr>
            </a:pPr>
            <a:r>
              <a:t>Hmax = 8     Hnorm = 0.101410</a:t>
            </a:r>
          </a:p>
          <a:p>
            <a:pPr>
              <a:spcAft>
                <a:spcPts val="800"/>
              </a:spcAft>
              <a:defRPr sz="2600" b="0">
                <a:solidFill>
                  <a:srgbClr val="486B52"/>
                </a:solidFill>
                <a:latin typeface="Calibri"/>
              </a:defRPr>
            </a:pPr>
            <a:r>
              <a:t>R = 89.8590% entropy deficit     Unique levels = 2</a:t>
            </a:r>
          </a:p>
        </p:txBody>
      </p:sp>
      <p:sp>
        <p:nvSpPr>
          <p:cNvPr id="11" name="TextBox 10"/>
          <p:cNvSpPr txBox="1"/>
          <p:nvPr/>
        </p:nvSpPr>
        <p:spPr>
          <a:xfrm>
            <a:off x="822960" y="5715000"/>
            <a:ext cx="10789920" cy="457200"/>
          </a:xfrm>
          <a:prstGeom prst="rect">
            <a:avLst/>
          </a:prstGeom>
          <a:noFill/>
        </p:spPr>
        <p:txBody>
          <a:bodyPr wrap="square" lIns="0" rIns="0" tIns="0" bIns="0">
            <a:spAutoFit/>
          </a:bodyPr>
          <a:lstStyle/>
          <a:p>
            <a:pPr>
              <a:spcAft>
                <a:spcPts val="800"/>
              </a:spcAft>
              <a:defRPr sz="2000" b="0">
                <a:solidFill>
                  <a:srgbClr val="59675F"/>
                </a:solidFill>
                <a:latin typeface="Calibri"/>
              </a:defRPr>
            </a:pPr>
            <a:r>
              <a:t>The fixed 8-bit maximum is different from the 1-bit maximum on a two-level support.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Experimental results: synthetic test images</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Measured with unchanged entropy.py · 256 × 256 PNG inputs · Seed 20261020 · experiment_results.csv</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11</a:t>
            </a:r>
          </a:p>
        </p:txBody>
      </p:sp>
      <p:graphicFrame>
        <p:nvGraphicFramePr>
          <p:cNvPr id="7" name="Table 6"/>
          <p:cNvGraphicFramePr>
            <a:graphicFrameLocks noGrp="1"/>
          </p:cNvGraphicFramePr>
          <p:nvPr/>
        </p:nvGraphicFramePr>
        <p:xfrm>
          <a:off x="685800" y="1828800"/>
          <a:ext cx="6400800" cy="2468880"/>
        </p:xfrm>
        <a:graphic>
          <a:graphicData uri="http://schemas.openxmlformats.org/drawingml/2006/table">
            <a:tbl>
              <a:tblPr firstRow="1" bandRow="1">
                <a:tableStyleId>{5C22544A-7EE6-4342-B048-85BDC9FD1C3A}</a:tableStyleId>
              </a:tblPr>
              <a:tblGrid>
                <a:gridCol w="1828800"/>
                <a:gridCol w="1005840"/>
                <a:gridCol w="1097280"/>
                <a:gridCol w="1371600"/>
                <a:gridCol w="1097280"/>
              </a:tblGrid>
              <a:tr h="493776">
                <a:tc>
                  <a:txBody>
                    <a:bodyPr/>
                    <a:lstStyle/>
                    <a:p>
                      <a:pPr>
                        <a:defRPr sz="1900" b="1">
                          <a:solidFill>
                            <a:srgbClr val="486B52"/>
                          </a:solidFill>
                          <a:latin typeface="Calibri"/>
                        </a:defRPr>
                      </a:pPr>
                      <a:r>
                        <a:t>Image</a:t>
                      </a:r>
                    </a:p>
                  </a:txBody>
                  <a:tcPr marL="109728" marR="82296" marT="82296" marB="54864" anchor="ctr">
                    <a:solidFill>
                      <a:srgbClr val="EDF4EF"/>
                    </a:solidFill>
                  </a:tcPr>
                </a:tc>
                <a:tc>
                  <a:txBody>
                    <a:bodyPr/>
                    <a:lstStyle/>
                    <a:p>
                      <a:pPr>
                        <a:defRPr sz="1900" b="1">
                          <a:solidFill>
                            <a:srgbClr val="486B52"/>
                          </a:solidFill>
                          <a:latin typeface="Calibri"/>
                        </a:defRPr>
                      </a:pPr>
                      <a:r>
                        <a:t>H</a:t>
                      </a:r>
                    </a:p>
                  </a:txBody>
                  <a:tcPr marL="109728" marR="82296" marT="82296" marB="54864" anchor="ctr">
                    <a:solidFill>
                      <a:srgbClr val="EDF4EF"/>
                    </a:solidFill>
                  </a:tcPr>
                </a:tc>
                <a:tc>
                  <a:txBody>
                    <a:bodyPr/>
                    <a:lstStyle/>
                    <a:p>
                      <a:pPr>
                        <a:defRPr sz="1900" b="1">
                          <a:solidFill>
                            <a:srgbClr val="486B52"/>
                          </a:solidFill>
                          <a:latin typeface="Calibri"/>
                        </a:defRPr>
                      </a:pPr>
                      <a:r>
                        <a:t>Hnorm</a:t>
                      </a:r>
                    </a:p>
                  </a:txBody>
                  <a:tcPr marL="109728" marR="82296" marT="82296" marB="54864" anchor="ctr">
                    <a:solidFill>
                      <a:srgbClr val="EDF4EF"/>
                    </a:solidFill>
                  </a:tcPr>
                </a:tc>
                <a:tc>
                  <a:txBody>
                    <a:bodyPr/>
                    <a:lstStyle/>
                    <a:p>
                      <a:pPr>
                        <a:defRPr sz="1900" b="1">
                          <a:solidFill>
                            <a:srgbClr val="486B52"/>
                          </a:solidFill>
                          <a:latin typeface="Calibri"/>
                        </a:defRPr>
                      </a:pPr>
                      <a:r>
                        <a:t>R (%)</a:t>
                      </a:r>
                    </a:p>
                  </a:txBody>
                  <a:tcPr marL="109728" marR="82296" marT="82296" marB="54864" anchor="ctr">
                    <a:solidFill>
                      <a:srgbClr val="EDF4EF"/>
                    </a:solidFill>
                  </a:tcPr>
                </a:tc>
                <a:tc>
                  <a:txBody>
                    <a:bodyPr/>
                    <a:lstStyle/>
                    <a:p>
                      <a:pPr>
                        <a:defRPr sz="1900" b="1">
                          <a:solidFill>
                            <a:srgbClr val="486B52"/>
                          </a:solidFill>
                          <a:latin typeface="Calibri"/>
                        </a:defRPr>
                      </a:pPr>
                      <a:r>
                        <a:t>Levels</a:t>
                      </a:r>
                    </a:p>
                  </a:txBody>
                  <a:tcPr marL="109728" marR="82296" marT="82296" marB="54864" anchor="ctr">
                    <a:solidFill>
                      <a:srgbClr val="EDF4EF"/>
                    </a:solidFill>
                  </a:tcPr>
                </a:tc>
              </a:tr>
              <a:tr h="493776">
                <a:tc>
                  <a:txBody>
                    <a:bodyPr/>
                    <a:lstStyle/>
                    <a:p>
                      <a:pPr>
                        <a:defRPr sz="1900" b="0">
                          <a:solidFill>
                            <a:srgbClr val="18221C"/>
                          </a:solidFill>
                          <a:latin typeface="Calibri"/>
                        </a:defRPr>
                      </a:pPr>
                      <a:r>
                        <a:t>Constant</a:t>
                      </a:r>
                    </a:p>
                  </a:txBody>
                  <a:tcPr marL="109728" marR="82296" marT="82296" marB="54864" anchor="ctr">
                    <a:solidFill>
                      <a:srgbClr val="FFFFFF"/>
                    </a:solidFill>
                  </a:tcPr>
                </a:tc>
                <a:tc>
                  <a:txBody>
                    <a:bodyPr/>
                    <a:lstStyle/>
                    <a:p>
                      <a:pPr>
                        <a:defRPr sz="1900" b="0">
                          <a:solidFill>
                            <a:srgbClr val="18221C"/>
                          </a:solidFill>
                          <a:latin typeface="Calibri"/>
                        </a:defRPr>
                      </a:pPr>
                      <a:r>
                        <a:t>0.0000</a:t>
                      </a:r>
                    </a:p>
                  </a:txBody>
                  <a:tcPr marL="109728" marR="82296" marT="82296" marB="54864" anchor="ctr">
                    <a:solidFill>
                      <a:srgbClr val="FFFFFF"/>
                    </a:solidFill>
                  </a:tcPr>
                </a:tc>
                <a:tc>
                  <a:txBody>
                    <a:bodyPr/>
                    <a:lstStyle/>
                    <a:p>
                      <a:pPr>
                        <a:defRPr sz="1900" b="0">
                          <a:solidFill>
                            <a:srgbClr val="18221C"/>
                          </a:solidFill>
                          <a:latin typeface="Calibri"/>
                        </a:defRPr>
                      </a:pPr>
                      <a:r>
                        <a:t>0.0000</a:t>
                      </a:r>
                    </a:p>
                  </a:txBody>
                  <a:tcPr marL="109728" marR="82296" marT="82296" marB="54864" anchor="ctr">
                    <a:solidFill>
                      <a:srgbClr val="FFFFFF"/>
                    </a:solidFill>
                  </a:tcPr>
                </a:tc>
                <a:tc>
                  <a:txBody>
                    <a:bodyPr/>
                    <a:lstStyle/>
                    <a:p>
                      <a:pPr>
                        <a:defRPr sz="1900" b="0">
                          <a:solidFill>
                            <a:srgbClr val="18221C"/>
                          </a:solidFill>
                          <a:latin typeface="Calibri"/>
                        </a:defRPr>
                      </a:pPr>
                      <a:r>
                        <a:t>100.0000</a:t>
                      </a:r>
                    </a:p>
                  </a:txBody>
                  <a:tcPr marL="109728" marR="82296" marT="82296" marB="54864" anchor="ctr">
                    <a:solidFill>
                      <a:srgbClr val="FFFFFF"/>
                    </a:solidFill>
                  </a:tcPr>
                </a:tc>
                <a:tc>
                  <a:txBody>
                    <a:bodyPr/>
                    <a:lstStyle/>
                    <a:p>
                      <a:pPr>
                        <a:defRPr sz="1900" b="0">
                          <a:solidFill>
                            <a:srgbClr val="18221C"/>
                          </a:solidFill>
                          <a:latin typeface="Calibri"/>
                        </a:defRPr>
                      </a:pPr>
                      <a:r>
                        <a:t>1</a:t>
                      </a:r>
                    </a:p>
                  </a:txBody>
                  <a:tcPr marL="109728" marR="82296" marT="82296" marB="54864" anchor="ctr">
                    <a:solidFill>
                      <a:srgbClr val="FFFFFF"/>
                    </a:solidFill>
                  </a:tcPr>
                </a:tc>
              </a:tr>
              <a:tr h="493776">
                <a:tc>
                  <a:txBody>
                    <a:bodyPr/>
                    <a:lstStyle/>
                    <a:p>
                      <a:pPr>
                        <a:defRPr sz="1900" b="0">
                          <a:solidFill>
                            <a:srgbClr val="18221C"/>
                          </a:solidFill>
                          <a:latin typeface="Calibri"/>
                        </a:defRPr>
                      </a:pPr>
                      <a:r>
                        <a:t>Four levels</a:t>
                      </a:r>
                    </a:p>
                  </a:txBody>
                  <a:tcPr marL="109728" marR="82296" marT="82296" marB="54864" anchor="ctr">
                    <a:solidFill>
                      <a:srgbClr val="FFFFFF"/>
                    </a:solidFill>
                  </a:tcPr>
                </a:tc>
                <a:tc>
                  <a:txBody>
                    <a:bodyPr/>
                    <a:lstStyle/>
                    <a:p>
                      <a:pPr>
                        <a:defRPr sz="1900" b="0">
                          <a:solidFill>
                            <a:srgbClr val="18221C"/>
                          </a:solidFill>
                          <a:latin typeface="Calibri"/>
                        </a:defRPr>
                      </a:pPr>
                      <a:r>
                        <a:t>2.0000</a:t>
                      </a:r>
                    </a:p>
                  </a:txBody>
                  <a:tcPr marL="109728" marR="82296" marT="82296" marB="54864" anchor="ctr">
                    <a:solidFill>
                      <a:srgbClr val="FFFFFF"/>
                    </a:solidFill>
                  </a:tcPr>
                </a:tc>
                <a:tc>
                  <a:txBody>
                    <a:bodyPr/>
                    <a:lstStyle/>
                    <a:p>
                      <a:pPr>
                        <a:defRPr sz="1900" b="0">
                          <a:solidFill>
                            <a:srgbClr val="18221C"/>
                          </a:solidFill>
                          <a:latin typeface="Calibri"/>
                        </a:defRPr>
                      </a:pPr>
                      <a:r>
                        <a:t>0.2500</a:t>
                      </a:r>
                    </a:p>
                  </a:txBody>
                  <a:tcPr marL="109728" marR="82296" marT="82296" marB="54864" anchor="ctr">
                    <a:solidFill>
                      <a:srgbClr val="FFFFFF"/>
                    </a:solidFill>
                  </a:tcPr>
                </a:tc>
                <a:tc>
                  <a:txBody>
                    <a:bodyPr/>
                    <a:lstStyle/>
                    <a:p>
                      <a:pPr>
                        <a:defRPr sz="1900" b="0">
                          <a:solidFill>
                            <a:srgbClr val="18221C"/>
                          </a:solidFill>
                          <a:latin typeface="Calibri"/>
                        </a:defRPr>
                      </a:pPr>
                      <a:r>
                        <a:t>75.0000</a:t>
                      </a:r>
                    </a:p>
                  </a:txBody>
                  <a:tcPr marL="109728" marR="82296" marT="82296" marB="54864" anchor="ctr">
                    <a:solidFill>
                      <a:srgbClr val="FFFFFF"/>
                    </a:solidFill>
                  </a:tcPr>
                </a:tc>
                <a:tc>
                  <a:txBody>
                    <a:bodyPr/>
                    <a:lstStyle/>
                    <a:p>
                      <a:pPr>
                        <a:defRPr sz="1900" b="0">
                          <a:solidFill>
                            <a:srgbClr val="18221C"/>
                          </a:solidFill>
                          <a:latin typeface="Calibri"/>
                        </a:defRPr>
                      </a:pPr>
                      <a:r>
                        <a:t>4</a:t>
                      </a:r>
                    </a:p>
                  </a:txBody>
                  <a:tcPr marL="109728" marR="82296" marT="82296" marB="54864" anchor="ctr">
                    <a:solidFill>
                      <a:srgbClr val="FFFFFF"/>
                    </a:solidFill>
                  </a:tcPr>
                </a:tc>
              </a:tr>
              <a:tr h="493776">
                <a:tc>
                  <a:txBody>
                    <a:bodyPr/>
                    <a:lstStyle/>
                    <a:p>
                      <a:pPr>
                        <a:defRPr sz="1900" b="0">
                          <a:solidFill>
                            <a:srgbClr val="18221C"/>
                          </a:solidFill>
                          <a:latin typeface="Calibri"/>
                        </a:defRPr>
                      </a:pPr>
                      <a:r>
                        <a:t>Landscape</a:t>
                      </a:r>
                    </a:p>
                  </a:txBody>
                  <a:tcPr marL="109728" marR="82296" marT="82296" marB="54864" anchor="ctr">
                    <a:solidFill>
                      <a:srgbClr val="FFFFFF"/>
                    </a:solidFill>
                  </a:tcPr>
                </a:tc>
                <a:tc>
                  <a:txBody>
                    <a:bodyPr/>
                    <a:lstStyle/>
                    <a:p>
                      <a:pPr>
                        <a:defRPr sz="1900" b="0">
                          <a:solidFill>
                            <a:srgbClr val="18221C"/>
                          </a:solidFill>
                          <a:latin typeface="Calibri"/>
                        </a:defRPr>
                      </a:pPr>
                      <a:r>
                        <a:t>6.5179</a:t>
                      </a:r>
                    </a:p>
                  </a:txBody>
                  <a:tcPr marL="109728" marR="82296" marT="82296" marB="54864" anchor="ctr">
                    <a:solidFill>
                      <a:srgbClr val="FFFFFF"/>
                    </a:solidFill>
                  </a:tcPr>
                </a:tc>
                <a:tc>
                  <a:txBody>
                    <a:bodyPr/>
                    <a:lstStyle/>
                    <a:p>
                      <a:pPr>
                        <a:defRPr sz="1900" b="0">
                          <a:solidFill>
                            <a:srgbClr val="18221C"/>
                          </a:solidFill>
                          <a:latin typeface="Calibri"/>
                        </a:defRPr>
                      </a:pPr>
                      <a:r>
                        <a:t>0.8147</a:t>
                      </a:r>
                    </a:p>
                  </a:txBody>
                  <a:tcPr marL="109728" marR="82296" marT="82296" marB="54864" anchor="ctr">
                    <a:solidFill>
                      <a:srgbClr val="FFFFFF"/>
                    </a:solidFill>
                  </a:tcPr>
                </a:tc>
                <a:tc>
                  <a:txBody>
                    <a:bodyPr/>
                    <a:lstStyle/>
                    <a:p>
                      <a:pPr>
                        <a:defRPr sz="1900" b="0">
                          <a:solidFill>
                            <a:srgbClr val="18221C"/>
                          </a:solidFill>
                          <a:latin typeface="Calibri"/>
                        </a:defRPr>
                      </a:pPr>
                      <a:r>
                        <a:t>18.5261</a:t>
                      </a:r>
                    </a:p>
                  </a:txBody>
                  <a:tcPr marL="109728" marR="82296" marT="82296" marB="54864" anchor="ctr">
                    <a:solidFill>
                      <a:srgbClr val="FFFFFF"/>
                    </a:solidFill>
                  </a:tcPr>
                </a:tc>
                <a:tc>
                  <a:txBody>
                    <a:bodyPr/>
                    <a:lstStyle/>
                    <a:p>
                      <a:pPr>
                        <a:defRPr sz="1900" b="0">
                          <a:solidFill>
                            <a:srgbClr val="18221C"/>
                          </a:solidFill>
                          <a:latin typeface="Calibri"/>
                        </a:defRPr>
                      </a:pPr>
                      <a:r>
                        <a:t>106</a:t>
                      </a:r>
                    </a:p>
                  </a:txBody>
                  <a:tcPr marL="109728" marR="82296" marT="82296" marB="54864" anchor="ctr">
                    <a:solidFill>
                      <a:srgbClr val="FFFFFF"/>
                    </a:solidFill>
                  </a:tcPr>
                </a:tc>
              </a:tr>
              <a:tr h="493776">
                <a:tc>
                  <a:txBody>
                    <a:bodyPr/>
                    <a:lstStyle/>
                    <a:p>
                      <a:pPr>
                        <a:defRPr sz="1900" b="0">
                          <a:solidFill>
                            <a:srgbClr val="18221C"/>
                          </a:solidFill>
                          <a:latin typeface="Calibri"/>
                        </a:defRPr>
                      </a:pPr>
                      <a:r>
                        <a:t>Noise</a:t>
                      </a:r>
                    </a:p>
                  </a:txBody>
                  <a:tcPr marL="109728" marR="82296" marT="82296" marB="54864" anchor="ctr">
                    <a:solidFill>
                      <a:srgbClr val="FFFFFF"/>
                    </a:solidFill>
                  </a:tcPr>
                </a:tc>
                <a:tc>
                  <a:txBody>
                    <a:bodyPr/>
                    <a:lstStyle/>
                    <a:p>
                      <a:pPr>
                        <a:defRPr sz="1900" b="0">
                          <a:solidFill>
                            <a:srgbClr val="18221C"/>
                          </a:solidFill>
                          <a:latin typeface="Calibri"/>
                        </a:defRPr>
                      </a:pPr>
                      <a:r>
                        <a:t>7.9968</a:t>
                      </a:r>
                    </a:p>
                  </a:txBody>
                  <a:tcPr marL="109728" marR="82296" marT="82296" marB="54864" anchor="ctr">
                    <a:solidFill>
                      <a:srgbClr val="FFFFFF"/>
                    </a:solidFill>
                  </a:tcPr>
                </a:tc>
                <a:tc>
                  <a:txBody>
                    <a:bodyPr/>
                    <a:lstStyle/>
                    <a:p>
                      <a:pPr>
                        <a:defRPr sz="1900" b="0">
                          <a:solidFill>
                            <a:srgbClr val="18221C"/>
                          </a:solidFill>
                          <a:latin typeface="Calibri"/>
                        </a:defRPr>
                      </a:pPr>
                      <a:r>
                        <a:t>0.9996</a:t>
                      </a:r>
                    </a:p>
                  </a:txBody>
                  <a:tcPr marL="109728" marR="82296" marT="82296" marB="54864" anchor="ctr">
                    <a:solidFill>
                      <a:srgbClr val="FFFFFF"/>
                    </a:solidFill>
                  </a:tcPr>
                </a:tc>
                <a:tc>
                  <a:txBody>
                    <a:bodyPr/>
                    <a:lstStyle/>
                    <a:p>
                      <a:pPr>
                        <a:defRPr sz="1900" b="0">
                          <a:solidFill>
                            <a:srgbClr val="18221C"/>
                          </a:solidFill>
                          <a:latin typeface="Calibri"/>
                        </a:defRPr>
                      </a:pPr>
                      <a:r>
                        <a:t>0.0403</a:t>
                      </a:r>
                    </a:p>
                  </a:txBody>
                  <a:tcPr marL="109728" marR="82296" marT="82296" marB="54864" anchor="ctr">
                    <a:solidFill>
                      <a:srgbClr val="FFFFFF"/>
                    </a:solidFill>
                  </a:tcPr>
                </a:tc>
                <a:tc>
                  <a:txBody>
                    <a:bodyPr/>
                    <a:lstStyle/>
                    <a:p>
                      <a:pPr>
                        <a:defRPr sz="1900" b="0">
                          <a:solidFill>
                            <a:srgbClr val="18221C"/>
                          </a:solidFill>
                          <a:latin typeface="Calibri"/>
                        </a:defRPr>
                      </a:pPr>
                      <a:r>
                        <a:t>256</a:t>
                      </a:r>
                    </a:p>
                  </a:txBody>
                  <a:tcPr marL="109728" marR="82296" marT="82296" marB="54864" anchor="ctr">
                    <a:solidFill>
                      <a:srgbClr val="FFFFFF"/>
                    </a:solidFill>
                  </a:tcPr>
                </a:tc>
              </a:tr>
            </a:tbl>
          </a:graphicData>
        </a:graphic>
      </p:graphicFrame>
      <p:graphicFrame>
        <p:nvGraphicFramePr>
          <p:cNvPr id="8" name="Chart 7"/>
          <p:cNvGraphicFramePr>
            <a:graphicFrameLocks noGrp="1"/>
          </p:cNvGraphicFramePr>
          <p:nvPr/>
        </p:nvGraphicFramePr>
        <p:xfrm>
          <a:off x="7406640" y="1810512"/>
          <a:ext cx="4114800" cy="2880360"/>
        </p:xfrm>
        <a:graphic>
          <a:graphicData uri="http://schemas.openxmlformats.org/drawingml/2006/chart">
            <c:chart xmlns:c="http://schemas.openxmlformats.org/drawingml/2006/chart" r:id="rId2"/>
          </a:graphicData>
        </a:graphic>
      </p:graphicFrame>
      <p:sp>
        <p:nvSpPr>
          <p:cNvPr id="9" name="TextBox 8"/>
          <p:cNvSpPr txBox="1"/>
          <p:nvPr/>
        </p:nvSpPr>
        <p:spPr>
          <a:xfrm>
            <a:off x="7543800" y="4617720"/>
            <a:ext cx="3840480" cy="320040"/>
          </a:xfrm>
          <a:prstGeom prst="rect">
            <a:avLst/>
          </a:prstGeom>
          <a:noFill/>
        </p:spPr>
        <p:txBody>
          <a:bodyPr wrap="square" lIns="0" rIns="0" tIns="0" bIns="0">
            <a:spAutoFit/>
          </a:bodyPr>
          <a:lstStyle/>
          <a:p>
            <a:pPr>
              <a:spcAft>
                <a:spcPts val="800"/>
              </a:spcAft>
              <a:defRPr sz="1700" b="0">
                <a:solidFill>
                  <a:srgbClr val="59675F"/>
                </a:solidFill>
                <a:latin typeface="Calibri"/>
              </a:defRPr>
            </a:pPr>
            <a:r>
              <a:t>Entropy (bits/pixel)</a:t>
            </a:r>
          </a:p>
        </p:txBody>
      </p:sp>
      <p:sp>
        <p:nvSpPr>
          <p:cNvPr id="10" name="TextBox 9"/>
          <p:cNvSpPr txBox="1"/>
          <p:nvPr/>
        </p:nvSpPr>
        <p:spPr>
          <a:xfrm>
            <a:off x="777240" y="5074920"/>
            <a:ext cx="10652760" cy="868680"/>
          </a:xfrm>
          <a:prstGeom prst="rect">
            <a:avLst/>
          </a:prstGeom>
          <a:noFill/>
        </p:spPr>
        <p:txBody>
          <a:bodyPr wrap="square" lIns="0" rIns="0" tIns="0" bIns="0">
            <a:spAutoFit/>
          </a:bodyPr>
          <a:lstStyle/>
          <a:p>
            <a:pPr>
              <a:spcAft>
                <a:spcPts val="800"/>
              </a:spcAft>
              <a:defRPr sz="2300" b="0">
                <a:solidFill>
                  <a:srgbClr val="486B52"/>
                </a:solidFill>
                <a:latin typeface="Calibri"/>
              </a:defRPr>
            </a:pPr>
            <a:r>
              <a:t>Known cases match theory: 0 bits and 2 bits.</a:t>
            </a:r>
          </a:p>
          <a:p>
            <a:pPr>
              <a:spcAft>
                <a:spcPts val="800"/>
              </a:spcAft>
              <a:defRPr sz="2300" b="0">
                <a:solidFill>
                  <a:srgbClr val="486B52"/>
                </a:solidFill>
                <a:latin typeface="Calibri"/>
              </a:defRPr>
            </a:pPr>
            <a:r>
              <a:t>Landscape: unequal counts. Noise: nearly uniform, slightly below 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Applications: useful measurements, careful claims</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12</a:t>
            </a:r>
          </a:p>
        </p:txBody>
      </p:sp>
      <p:sp>
        <p:nvSpPr>
          <p:cNvPr id="7" name="Rectangle 6"/>
          <p:cNvSpPr/>
          <p:nvPr/>
        </p:nvSpPr>
        <p:spPr>
          <a:xfrm>
            <a:off x="731520" y="199339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920240"/>
            <a:ext cx="509320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Demonstrated now</a:t>
            </a:r>
          </a:p>
        </p:txBody>
      </p:sp>
      <p:sp>
        <p:nvSpPr>
          <p:cNvPr id="9" name="TextBox 8"/>
          <p:cNvSpPr txBox="1"/>
          <p:nvPr/>
        </p:nvSpPr>
        <p:spPr>
          <a:xfrm>
            <a:off x="941832" y="2359152"/>
            <a:ext cx="509320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Inspect intensity statistics and channel distributions.</a:t>
            </a:r>
          </a:p>
        </p:txBody>
      </p:sp>
      <p:sp>
        <p:nvSpPr>
          <p:cNvPr id="10" name="Rectangle 9"/>
          <p:cNvSpPr/>
          <p:nvPr/>
        </p:nvSpPr>
        <p:spPr>
          <a:xfrm>
            <a:off x="731520" y="322783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154680"/>
            <a:ext cx="509320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Controlled experiments</a:t>
            </a:r>
          </a:p>
        </p:txBody>
      </p:sp>
      <p:sp>
        <p:nvSpPr>
          <p:cNvPr id="12" name="TextBox 11"/>
          <p:cNvSpPr txBox="1"/>
          <p:nvPr/>
        </p:nvSpPr>
        <p:spPr>
          <a:xfrm>
            <a:off x="941832" y="3593592"/>
            <a:ext cx="509320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Compare synthetic content and export measured results.</a:t>
            </a:r>
          </a:p>
        </p:txBody>
      </p:sp>
      <p:sp>
        <p:nvSpPr>
          <p:cNvPr id="13" name="Rectangle 12"/>
          <p:cNvSpPr/>
          <p:nvPr/>
        </p:nvSpPr>
        <p:spPr>
          <a:xfrm>
            <a:off x="731520" y="446227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4389120"/>
            <a:ext cx="509320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Teaching</a:t>
            </a:r>
          </a:p>
        </p:txBody>
      </p:sp>
      <p:sp>
        <p:nvSpPr>
          <p:cNvPr id="15" name="TextBox 14"/>
          <p:cNvSpPr txBox="1"/>
          <p:nvPr/>
        </p:nvSpPr>
        <p:spPr>
          <a:xfrm>
            <a:off x="941832" y="4828032"/>
            <a:ext cx="509320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Connect array operations with Information Theory.</a:t>
            </a:r>
          </a:p>
        </p:txBody>
      </p:sp>
      <p:sp>
        <p:nvSpPr>
          <p:cNvPr id="16" name="Rectangle 15"/>
          <p:cNvSpPr/>
          <p:nvPr/>
        </p:nvSpPr>
        <p:spPr>
          <a:xfrm>
            <a:off x="6583680" y="1920240"/>
            <a:ext cx="4800600" cy="3566160"/>
          </a:xfrm>
          <a:prstGeom prst="rect">
            <a:avLst/>
          </a:prstGeom>
          <a:solidFill>
            <a:srgbClr val="ED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12280" y="2148840"/>
            <a:ext cx="4389120" cy="457200"/>
          </a:xfrm>
          <a:prstGeom prst="rect">
            <a:avLst/>
          </a:prstGeom>
          <a:noFill/>
        </p:spPr>
        <p:txBody>
          <a:bodyPr wrap="square" lIns="0" rIns="0" tIns="0" bIns="0">
            <a:spAutoFit/>
          </a:bodyPr>
          <a:lstStyle/>
          <a:p>
            <a:pPr>
              <a:spcAft>
                <a:spcPts val="800"/>
              </a:spcAft>
              <a:defRPr sz="2400" b="1">
                <a:solidFill>
                  <a:srgbClr val="486B52"/>
                </a:solidFill>
                <a:latin typeface="Calibri"/>
              </a:defRPr>
            </a:pPr>
            <a:r>
              <a:t>Potential with added validation</a:t>
            </a:r>
          </a:p>
        </p:txBody>
      </p:sp>
      <p:sp>
        <p:nvSpPr>
          <p:cNvPr id="18" name="TextBox 17"/>
          <p:cNvSpPr txBox="1"/>
          <p:nvPr/>
        </p:nvSpPr>
        <p:spPr>
          <a:xfrm>
            <a:off x="6812280" y="2862072"/>
            <a:ext cx="4206240" cy="2286000"/>
          </a:xfrm>
          <a:prstGeom prst="rect">
            <a:avLst/>
          </a:prstGeom>
          <a:noFill/>
        </p:spPr>
        <p:txBody>
          <a:bodyPr wrap="square" lIns="0" rIns="0" tIns="0" bIns="0">
            <a:spAutoFit/>
          </a:bodyPr>
          <a:lstStyle/>
          <a:p>
            <a:pPr>
              <a:spcAft>
                <a:spcPts val="800"/>
              </a:spcAft>
              <a:defRPr sz="2200" b="0">
                <a:solidFill>
                  <a:srgbClr val="18221C"/>
                </a:solidFill>
                <a:latin typeface="Calibri"/>
              </a:defRPr>
            </a:pPr>
            <a:r>
              <a:t>Texture / scene characterization</a:t>
            </a:r>
          </a:p>
          <a:p>
            <a:pPr>
              <a:spcAft>
                <a:spcPts val="800"/>
              </a:spcAft>
              <a:defRPr sz="2200" b="0">
                <a:solidFill>
                  <a:srgbClr val="18221C"/>
                </a:solidFill>
                <a:latin typeface="Calibri"/>
              </a:defRPr>
            </a:pPr>
            <a:r>
              <a:t>Noise and preprocessing studies</a:t>
            </a:r>
          </a:p>
          <a:p>
            <a:pPr>
              <a:spcAft>
                <a:spcPts val="800"/>
              </a:spcAft>
              <a:defRPr sz="2200" b="0">
                <a:solidFill>
                  <a:srgbClr val="18221C"/>
                </a:solidFill>
                <a:latin typeface="Calibri"/>
              </a:defRPr>
            </a:pPr>
            <a:r>
              <a:t>Compression-model experiments</a:t>
            </a:r>
          </a:p>
          <a:p>
            <a:pPr>
              <a:spcAft>
                <a:spcPts val="800"/>
              </a:spcAft>
              <a:defRPr sz="2200" b="0">
                <a:solidFill>
                  <a:srgbClr val="18221C"/>
                </a:solidFill>
                <a:latin typeface="Calibri"/>
              </a:defRPr>
            </a:pPr>
            <a:r>
              <a:t>Features for computer vision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Limitation: positions are invisible to the histogram</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13</a:t>
            </a:r>
          </a:p>
        </p:txBody>
      </p:sp>
      <p:pic>
        <p:nvPicPr>
          <p:cNvPr id="7" name="Picture 6" descr="permutation.png"/>
          <p:cNvPicPr>
            <a:picLocks noChangeAspect="1"/>
          </p:cNvPicPr>
          <p:nvPr/>
        </p:nvPicPr>
        <p:blipFill>
          <a:blip r:embed="rId2"/>
          <a:stretch>
            <a:fillRect/>
          </a:stretch>
        </p:blipFill>
        <p:spPr>
          <a:xfrm>
            <a:off x="822960" y="1844802"/>
            <a:ext cx="6126480" cy="2756915"/>
          </a:xfrm>
          <a:prstGeom prst="rect">
            <a:avLst/>
          </a:prstGeom>
        </p:spPr>
      </p:pic>
      <p:sp>
        <p:nvSpPr>
          <p:cNvPr id="8" name="TextBox 7"/>
          <p:cNvSpPr txBox="1"/>
          <p:nvPr/>
        </p:nvSpPr>
        <p:spPr>
          <a:xfrm>
            <a:off x="7406640" y="2057400"/>
            <a:ext cx="3931920" cy="1554480"/>
          </a:xfrm>
          <a:prstGeom prst="rect">
            <a:avLst/>
          </a:prstGeom>
          <a:noFill/>
        </p:spPr>
        <p:txBody>
          <a:bodyPr wrap="square" lIns="0" rIns="0" tIns="0" bIns="0">
            <a:spAutoFit/>
          </a:bodyPr>
          <a:lstStyle/>
          <a:p>
            <a:pPr>
              <a:spcAft>
                <a:spcPts val="800"/>
              </a:spcAft>
              <a:defRPr sz="2800" b="1">
                <a:solidFill>
                  <a:srgbClr val="486B52"/>
                </a:solidFill>
                <a:latin typeface="Calibri"/>
              </a:defRPr>
            </a:pPr>
            <a:r>
              <a:t>Same counts.</a:t>
            </a:r>
          </a:p>
          <a:p>
            <a:pPr>
              <a:spcAft>
                <a:spcPts val="800"/>
              </a:spcAft>
              <a:defRPr sz="2800" b="1">
                <a:solidFill>
                  <a:srgbClr val="486B52"/>
                </a:solidFill>
                <a:latin typeface="Calibri"/>
              </a:defRPr>
            </a:pPr>
            <a:r>
              <a:t>Same H = 6.517914.</a:t>
            </a:r>
          </a:p>
          <a:p>
            <a:pPr>
              <a:spcAft>
                <a:spcPts val="800"/>
              </a:spcAft>
              <a:defRPr sz="2800" b="1">
                <a:solidFill>
                  <a:srgbClr val="486B52"/>
                </a:solidFill>
                <a:latin typeface="Calibri"/>
              </a:defRPr>
            </a:pPr>
            <a:r>
              <a:t>Different appearance.</a:t>
            </a:r>
          </a:p>
        </p:txBody>
      </p:sp>
      <p:sp>
        <p:nvSpPr>
          <p:cNvPr id="9" name="TextBox 8"/>
          <p:cNvSpPr txBox="1"/>
          <p:nvPr/>
        </p:nvSpPr>
        <p:spPr>
          <a:xfrm>
            <a:off x="822960" y="4983480"/>
            <a:ext cx="10607040" cy="914400"/>
          </a:xfrm>
          <a:prstGeom prst="rect">
            <a:avLst/>
          </a:prstGeom>
          <a:noFill/>
        </p:spPr>
        <p:txBody>
          <a:bodyPr wrap="square" lIns="0" rIns="0" tIns="0" bIns="0">
            <a:spAutoFit/>
          </a:bodyPr>
          <a:lstStyle/>
          <a:p>
            <a:pPr>
              <a:spcAft>
                <a:spcPts val="800"/>
              </a:spcAft>
              <a:defRPr sz="2300" b="0">
                <a:solidFill>
                  <a:srgbClr val="18221C"/>
                </a:solidFill>
                <a:latin typeface="Calibri"/>
              </a:defRPr>
            </a:pPr>
            <a:r>
              <a:t>No spatial dependence or joint RGB model.</a:t>
            </a:r>
          </a:p>
          <a:p>
            <a:pPr>
              <a:spcAft>
                <a:spcPts val="800"/>
              </a:spcAft>
              <a:defRPr sz="2300" b="0">
                <a:solidFill>
                  <a:srgbClr val="18221C"/>
                </a:solidFill>
                <a:latin typeface="Calibri"/>
              </a:defRPr>
            </a:pPr>
            <a:r>
              <a:t>Entropy is not visual quality, compressed file size or compression ratio.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Future scope: small, testable extensions</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14</a:t>
            </a:r>
          </a:p>
        </p:txBody>
      </p:sp>
      <p:sp>
        <p:nvSpPr>
          <p:cNvPr id="7" name="Rectangle 6"/>
          <p:cNvSpPr/>
          <p:nvPr/>
        </p:nvSpPr>
        <p:spPr>
          <a:xfrm>
            <a:off x="731520" y="190195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828800"/>
            <a:ext cx="1048816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1  Region comparison</a:t>
            </a:r>
          </a:p>
        </p:txBody>
      </p:sp>
      <p:sp>
        <p:nvSpPr>
          <p:cNvPr id="9" name="TextBox 8"/>
          <p:cNvSpPr txBox="1"/>
          <p:nvPr/>
        </p:nvSpPr>
        <p:spPr>
          <a:xfrm>
            <a:off x="941832" y="2267712"/>
            <a:ext cx="1048816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Isolate sky, edges and textured areas rather than mixing the whole image.</a:t>
            </a:r>
          </a:p>
        </p:txBody>
      </p:sp>
      <p:sp>
        <p:nvSpPr>
          <p:cNvPr id="10" name="Rectangle 9"/>
          <p:cNvSpPr/>
          <p:nvPr/>
        </p:nvSpPr>
        <p:spPr>
          <a:xfrm>
            <a:off x="731520" y="2926080"/>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852928"/>
            <a:ext cx="1048816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2  Controlled noise and preprocessing sweeps</a:t>
            </a:r>
          </a:p>
        </p:txBody>
      </p:sp>
      <p:sp>
        <p:nvSpPr>
          <p:cNvPr id="12" name="TextBox 11"/>
          <p:cNvSpPr txBox="1"/>
          <p:nvPr/>
        </p:nvSpPr>
        <p:spPr>
          <a:xfrm>
            <a:off x="941832" y="3291840"/>
            <a:ext cx="1048816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Measure sensitivity using fixed seeds and repeated trials.</a:t>
            </a:r>
          </a:p>
        </p:txBody>
      </p:sp>
      <p:sp>
        <p:nvSpPr>
          <p:cNvPr id="13" name="Rectangle 12"/>
          <p:cNvSpPr/>
          <p:nvPr/>
        </p:nvSpPr>
        <p:spPr>
          <a:xfrm>
            <a:off x="731520" y="3950208"/>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877056"/>
            <a:ext cx="1048816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3  Local maps and neighboring-pixel entropy</a:t>
            </a:r>
          </a:p>
        </p:txBody>
      </p:sp>
      <p:sp>
        <p:nvSpPr>
          <p:cNvPr id="15" name="TextBox 14"/>
          <p:cNvSpPr txBox="1"/>
          <p:nvPr/>
        </p:nvSpPr>
        <p:spPr>
          <a:xfrm>
            <a:off x="941832" y="4315968"/>
            <a:ext cx="1048816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Study where uncertainty occurs and what adjacency predicts.</a:t>
            </a:r>
          </a:p>
        </p:txBody>
      </p:sp>
      <p:sp>
        <p:nvSpPr>
          <p:cNvPr id="16" name="Rectangle 15"/>
          <p:cNvSpPr/>
          <p:nvPr/>
        </p:nvSpPr>
        <p:spPr>
          <a:xfrm>
            <a:off x="731520" y="4974336"/>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4901184"/>
            <a:ext cx="10488167" cy="411480"/>
          </a:xfrm>
          <a:prstGeom prst="rect">
            <a:avLst/>
          </a:prstGeom>
          <a:noFill/>
        </p:spPr>
        <p:txBody>
          <a:bodyPr wrap="square" lIns="0" rIns="0" tIns="0" bIns="0">
            <a:spAutoFit/>
          </a:bodyPr>
          <a:lstStyle/>
          <a:p>
            <a:pPr>
              <a:spcAft>
                <a:spcPts val="800"/>
              </a:spcAft>
              <a:defRPr sz="2300" b="1">
                <a:solidFill>
                  <a:srgbClr val="18221C"/>
                </a:solidFill>
                <a:latin typeface="Calibri"/>
              </a:defRPr>
            </a:pPr>
            <a:r>
              <a:t>4  Verified lossless coding experiments</a:t>
            </a:r>
          </a:p>
        </p:txBody>
      </p:sp>
      <p:sp>
        <p:nvSpPr>
          <p:cNvPr id="18" name="TextBox 17"/>
          <p:cNvSpPr txBox="1"/>
          <p:nvPr/>
        </p:nvSpPr>
        <p:spPr>
          <a:xfrm>
            <a:off x="941832" y="5340096"/>
            <a:ext cx="10488167" cy="685800"/>
          </a:xfrm>
          <a:prstGeom prst="rect">
            <a:avLst/>
          </a:prstGeom>
          <a:noFill/>
        </p:spPr>
        <p:txBody>
          <a:bodyPr wrap="square" lIns="0" rIns="0" tIns="0" bIns="0">
            <a:spAutoFit/>
          </a:bodyPr>
          <a:lstStyle/>
          <a:p>
            <a:pPr>
              <a:spcAft>
                <a:spcPts val="800"/>
              </a:spcAft>
              <a:defRPr sz="2000" b="0">
                <a:solidFill>
                  <a:srgbClr val="59675F"/>
                </a:solidFill>
                <a:latin typeface="Calibri"/>
              </a:defRPr>
            </a:pPr>
            <a:r>
              <a:t>Compare actual bytes and decoding fidelity with the selected source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Conclusion: a transparent statistical pipeline</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15</a:t>
            </a:r>
          </a:p>
        </p:txBody>
      </p:sp>
      <p:sp>
        <p:nvSpPr>
          <p:cNvPr id="7" name="Rectangle 6"/>
          <p:cNvSpPr/>
          <p:nvPr/>
        </p:nvSpPr>
        <p:spPr>
          <a:xfrm>
            <a:off x="777240" y="199339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920240"/>
            <a:ext cx="10488167" cy="411480"/>
          </a:xfrm>
          <a:prstGeom prst="rect">
            <a:avLst/>
          </a:prstGeom>
          <a:noFill/>
        </p:spPr>
        <p:txBody>
          <a:bodyPr wrap="square" lIns="0" rIns="0" tIns="0" bIns="0">
            <a:spAutoFit/>
          </a:bodyPr>
          <a:lstStyle/>
          <a:p>
            <a:pPr>
              <a:spcAft>
                <a:spcPts val="800"/>
              </a:spcAft>
              <a:defRPr sz="2500" b="1">
                <a:solidFill>
                  <a:srgbClr val="18221C"/>
                </a:solidFill>
                <a:latin typeface="Calibri"/>
              </a:defRPr>
            </a:pPr>
            <a:r>
              <a:t>Implemented</a:t>
            </a:r>
          </a:p>
        </p:txBody>
      </p:sp>
      <p:sp>
        <p:nvSpPr>
          <p:cNvPr id="9" name="TextBox 8"/>
          <p:cNvSpPr txBox="1"/>
          <p:nvPr/>
        </p:nvSpPr>
        <p:spPr>
          <a:xfrm>
            <a:off x="987552" y="2359152"/>
            <a:ext cx="10488167" cy="685800"/>
          </a:xfrm>
          <a:prstGeom prst="rect">
            <a:avLst/>
          </a:prstGeom>
          <a:noFill/>
        </p:spPr>
        <p:txBody>
          <a:bodyPr wrap="square" lIns="0" rIns="0" tIns="0" bIns="0">
            <a:spAutoFit/>
          </a:bodyPr>
          <a:lstStyle/>
          <a:p>
            <a:pPr>
              <a:spcAft>
                <a:spcPts val="800"/>
              </a:spcAft>
              <a:defRPr sz="2200" b="0">
                <a:solidFill>
                  <a:srgbClr val="59675F"/>
                </a:solidFill>
                <a:latin typeface="Calibri"/>
              </a:defRPr>
            </a:pPr>
            <a:r>
              <a:t>Upload → preprocess → distributions → metrics → plots / CSV</a:t>
            </a:r>
          </a:p>
        </p:txBody>
      </p:sp>
      <p:sp>
        <p:nvSpPr>
          <p:cNvPr id="10" name="Rectangle 9"/>
          <p:cNvSpPr/>
          <p:nvPr/>
        </p:nvSpPr>
        <p:spPr>
          <a:xfrm>
            <a:off x="777240" y="313639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3063240"/>
            <a:ext cx="10488167" cy="411480"/>
          </a:xfrm>
          <a:prstGeom prst="rect">
            <a:avLst/>
          </a:prstGeom>
          <a:noFill/>
        </p:spPr>
        <p:txBody>
          <a:bodyPr wrap="square" lIns="0" rIns="0" tIns="0" bIns="0">
            <a:spAutoFit/>
          </a:bodyPr>
          <a:lstStyle/>
          <a:p>
            <a:pPr>
              <a:spcAft>
                <a:spcPts val="800"/>
              </a:spcAft>
              <a:defRPr sz="2500" b="1">
                <a:solidFill>
                  <a:srgbClr val="18221C"/>
                </a:solidFill>
                <a:latin typeface="Calibri"/>
              </a:defRPr>
            </a:pPr>
            <a:r>
              <a:t>Verified</a:t>
            </a:r>
          </a:p>
        </p:txBody>
      </p:sp>
      <p:sp>
        <p:nvSpPr>
          <p:cNvPr id="12" name="TextBox 11"/>
          <p:cNvSpPr txBox="1"/>
          <p:nvPr/>
        </p:nvSpPr>
        <p:spPr>
          <a:xfrm>
            <a:off x="987552" y="3502152"/>
            <a:ext cx="10488167" cy="685800"/>
          </a:xfrm>
          <a:prstGeom prst="rect">
            <a:avLst/>
          </a:prstGeom>
          <a:noFill/>
        </p:spPr>
        <p:txBody>
          <a:bodyPr wrap="square" lIns="0" rIns="0" tIns="0" bIns="0">
            <a:spAutoFit/>
          </a:bodyPr>
          <a:lstStyle/>
          <a:p>
            <a:pPr>
              <a:spcAft>
                <a:spcPts val="800"/>
              </a:spcAft>
              <a:defRPr sz="2200" b="0">
                <a:solidFill>
                  <a:srgbClr val="59675F"/>
                </a:solidFill>
                <a:latin typeface="Calibri"/>
              </a:defRPr>
            </a:pPr>
            <a:r>
              <a:t>Known cases, seeded experiments, browser workflow and exports</a:t>
            </a:r>
          </a:p>
        </p:txBody>
      </p:sp>
      <p:sp>
        <p:nvSpPr>
          <p:cNvPr id="13" name="Rectangle 12"/>
          <p:cNvSpPr/>
          <p:nvPr/>
        </p:nvSpPr>
        <p:spPr>
          <a:xfrm>
            <a:off x="777240" y="4279392"/>
            <a:ext cx="54864" cy="393192"/>
          </a:xfrm>
          <a:prstGeom prst="rect">
            <a:avLst/>
          </a:prstGeom>
          <a:solidFill>
            <a:srgbClr val="8DA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206240"/>
            <a:ext cx="10488167" cy="411480"/>
          </a:xfrm>
          <a:prstGeom prst="rect">
            <a:avLst/>
          </a:prstGeom>
          <a:noFill/>
        </p:spPr>
        <p:txBody>
          <a:bodyPr wrap="square" lIns="0" rIns="0" tIns="0" bIns="0">
            <a:spAutoFit/>
          </a:bodyPr>
          <a:lstStyle/>
          <a:p>
            <a:pPr>
              <a:spcAft>
                <a:spcPts val="800"/>
              </a:spcAft>
              <a:defRPr sz="2500" b="1">
                <a:solidFill>
                  <a:srgbClr val="18221C"/>
                </a:solidFill>
                <a:latin typeface="Calibri"/>
              </a:defRPr>
            </a:pPr>
            <a:r>
              <a:t>Learned</a:t>
            </a:r>
          </a:p>
        </p:txBody>
      </p:sp>
      <p:sp>
        <p:nvSpPr>
          <p:cNvPr id="15" name="TextBox 14"/>
          <p:cNvSpPr txBox="1"/>
          <p:nvPr/>
        </p:nvSpPr>
        <p:spPr>
          <a:xfrm>
            <a:off x="987552" y="4645152"/>
            <a:ext cx="10488167" cy="685800"/>
          </a:xfrm>
          <a:prstGeom prst="rect">
            <a:avLst/>
          </a:prstGeom>
          <a:noFill/>
        </p:spPr>
        <p:txBody>
          <a:bodyPr wrap="square" lIns="0" rIns="0" tIns="0" bIns="0">
            <a:spAutoFit/>
          </a:bodyPr>
          <a:lstStyle/>
          <a:p>
            <a:pPr>
              <a:spcAft>
                <a:spcPts val="800"/>
              </a:spcAft>
              <a:defRPr sz="2200" b="0">
                <a:solidFill>
                  <a:srgbClr val="59675F"/>
                </a:solidFill>
                <a:latin typeface="Calibri"/>
              </a:defRPr>
            </a:pPr>
            <a:r>
              <a:t>The source model determines what entropy can legitimately describe.</a:t>
            </a:r>
          </a:p>
        </p:txBody>
      </p:sp>
      <p:sp>
        <p:nvSpPr>
          <p:cNvPr id="16" name="TextBox 15"/>
          <p:cNvSpPr txBox="1"/>
          <p:nvPr/>
        </p:nvSpPr>
        <p:spPr>
          <a:xfrm>
            <a:off x="914400" y="5623560"/>
            <a:ext cx="10424160" cy="457200"/>
          </a:xfrm>
          <a:prstGeom prst="rect">
            <a:avLst/>
          </a:prstGeom>
          <a:noFill/>
        </p:spPr>
        <p:txBody>
          <a:bodyPr wrap="square" lIns="0" rIns="0" tIns="0" bIns="0">
            <a:spAutoFit/>
          </a:bodyPr>
          <a:lstStyle/>
          <a:p>
            <a:pPr>
              <a:spcAft>
                <a:spcPts val="800"/>
              </a:spcAft>
              <a:defRPr sz="2700" b="1">
                <a:solidFill>
                  <a:srgbClr val="486B52"/>
                </a:solidFill>
                <a:latin typeface="Calibri"/>
              </a:defRPr>
            </a:pPr>
            <a:r>
              <a:t>Measure precisely. Interpret within the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References and reproducibility</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16</a:t>
            </a:r>
          </a:p>
        </p:txBody>
      </p:sp>
      <p:sp>
        <p:nvSpPr>
          <p:cNvPr id="7" name="TextBox 6"/>
          <p:cNvSpPr txBox="1"/>
          <p:nvPr/>
        </p:nvSpPr>
        <p:spPr>
          <a:xfrm>
            <a:off x="777240" y="1828800"/>
            <a:ext cx="10515600" cy="310896"/>
          </a:xfrm>
          <a:prstGeom prst="rect">
            <a:avLst/>
          </a:prstGeom>
          <a:noFill/>
        </p:spPr>
        <p:txBody>
          <a:bodyPr wrap="square" lIns="0" rIns="0" tIns="0" bIns="0">
            <a:spAutoFit/>
          </a:bodyPr>
          <a:lstStyle/>
          <a:p>
            <a:pPr>
              <a:spcAft>
                <a:spcPts val="800"/>
              </a:spcAft>
              <a:defRPr sz="2100" b="1">
                <a:solidFill>
                  <a:srgbClr val="18221C"/>
                </a:solidFill>
                <a:latin typeface="Calibri"/>
              </a:defRPr>
            </a:pPr>
            <a:r>
              <a:t>[1] Shannon, 1948 · A Mathematical Theory of Communication</a:t>
            </a:r>
          </a:p>
        </p:txBody>
      </p:sp>
      <p:sp>
        <p:nvSpPr>
          <p:cNvPr id="8" name="TextBox 7"/>
          <p:cNvSpPr txBox="1"/>
          <p:nvPr/>
        </p:nvSpPr>
        <p:spPr>
          <a:xfrm>
            <a:off x="777240" y="2167128"/>
            <a:ext cx="10515600" cy="274320"/>
          </a:xfrm>
          <a:prstGeom prst="rect">
            <a:avLst/>
          </a:prstGeom>
          <a:noFill/>
        </p:spPr>
        <p:txBody>
          <a:bodyPr wrap="square" lIns="0" rIns="0" tIns="0" bIns="0">
            <a:spAutoFit/>
          </a:bodyPr>
          <a:lstStyle/>
          <a:p>
            <a:pPr>
              <a:spcAft>
                <a:spcPts val="800"/>
              </a:spcAft>
              <a:defRPr sz="1500" b="0">
                <a:solidFill>
                  <a:srgbClr val="486B52"/>
                </a:solidFill>
                <a:latin typeface="Calibri"/>
              </a:defRPr>
            </a:pPr>
            <a:r>
              <a:rPr>
                <a:hlinkClick r:id="rId2"/>
              </a:rPr>
              <a:t>https://www.princeton.edu/~wbialek/rome/refs/shannon_48.pdf</a:t>
            </a:r>
          </a:p>
        </p:txBody>
      </p:sp>
      <p:sp>
        <p:nvSpPr>
          <p:cNvPr id="9" name="TextBox 8"/>
          <p:cNvSpPr txBox="1"/>
          <p:nvPr/>
        </p:nvSpPr>
        <p:spPr>
          <a:xfrm>
            <a:off x="777240" y="2606040"/>
            <a:ext cx="10515600" cy="310896"/>
          </a:xfrm>
          <a:prstGeom prst="rect">
            <a:avLst/>
          </a:prstGeom>
          <a:noFill/>
        </p:spPr>
        <p:txBody>
          <a:bodyPr wrap="square" lIns="0" rIns="0" tIns="0" bIns="0">
            <a:spAutoFit/>
          </a:bodyPr>
          <a:lstStyle/>
          <a:p>
            <a:pPr>
              <a:spcAft>
                <a:spcPts val="800"/>
              </a:spcAft>
              <a:defRPr sz="2100" b="1">
                <a:solidFill>
                  <a:srgbClr val="18221C"/>
                </a:solidFill>
                <a:latin typeface="Calibri"/>
              </a:defRPr>
            </a:pPr>
            <a:r>
              <a:t>[2] Pillow · Image conversion and EXIF orientation</a:t>
            </a:r>
          </a:p>
        </p:txBody>
      </p:sp>
      <p:sp>
        <p:nvSpPr>
          <p:cNvPr id="10" name="TextBox 9"/>
          <p:cNvSpPr txBox="1"/>
          <p:nvPr/>
        </p:nvSpPr>
        <p:spPr>
          <a:xfrm>
            <a:off x="777240" y="2944368"/>
            <a:ext cx="10515600" cy="274320"/>
          </a:xfrm>
          <a:prstGeom prst="rect">
            <a:avLst/>
          </a:prstGeom>
          <a:noFill/>
        </p:spPr>
        <p:txBody>
          <a:bodyPr wrap="square" lIns="0" rIns="0" tIns="0" bIns="0">
            <a:spAutoFit/>
          </a:bodyPr>
          <a:lstStyle/>
          <a:p>
            <a:pPr>
              <a:spcAft>
                <a:spcPts val="800"/>
              </a:spcAft>
              <a:defRPr sz="1500" b="0">
                <a:solidFill>
                  <a:srgbClr val="486B52"/>
                </a:solidFill>
                <a:latin typeface="Calibri"/>
              </a:defRPr>
            </a:pPr>
            <a:r>
              <a:rPr>
                <a:hlinkClick r:id="rId3"/>
              </a:rPr>
              <a:t>https://pillow.readthedocs.io/en/stable/reference/Image.html</a:t>
            </a:r>
          </a:p>
        </p:txBody>
      </p:sp>
      <p:sp>
        <p:nvSpPr>
          <p:cNvPr id="11" name="TextBox 10"/>
          <p:cNvSpPr txBox="1"/>
          <p:nvPr/>
        </p:nvSpPr>
        <p:spPr>
          <a:xfrm>
            <a:off x="777240" y="3383280"/>
            <a:ext cx="10515600" cy="310896"/>
          </a:xfrm>
          <a:prstGeom prst="rect">
            <a:avLst/>
          </a:prstGeom>
          <a:noFill/>
        </p:spPr>
        <p:txBody>
          <a:bodyPr wrap="square" lIns="0" rIns="0" tIns="0" bIns="0">
            <a:spAutoFit/>
          </a:bodyPr>
          <a:lstStyle/>
          <a:p>
            <a:pPr>
              <a:spcAft>
                <a:spcPts val="800"/>
              </a:spcAft>
              <a:defRPr sz="2100" b="1">
                <a:solidFill>
                  <a:srgbClr val="18221C"/>
                </a:solidFill>
                <a:latin typeface="Calibri"/>
              </a:defRPr>
            </a:pPr>
            <a:r>
              <a:t>[3] NumPy · bincount</a:t>
            </a:r>
          </a:p>
        </p:txBody>
      </p:sp>
      <p:sp>
        <p:nvSpPr>
          <p:cNvPr id="12" name="TextBox 11"/>
          <p:cNvSpPr txBox="1"/>
          <p:nvPr/>
        </p:nvSpPr>
        <p:spPr>
          <a:xfrm>
            <a:off x="777240" y="3721608"/>
            <a:ext cx="10515600" cy="274320"/>
          </a:xfrm>
          <a:prstGeom prst="rect">
            <a:avLst/>
          </a:prstGeom>
          <a:noFill/>
        </p:spPr>
        <p:txBody>
          <a:bodyPr wrap="square" lIns="0" rIns="0" tIns="0" bIns="0">
            <a:spAutoFit/>
          </a:bodyPr>
          <a:lstStyle/>
          <a:p>
            <a:pPr>
              <a:spcAft>
                <a:spcPts val="800"/>
              </a:spcAft>
              <a:defRPr sz="1500" b="0">
                <a:solidFill>
                  <a:srgbClr val="486B52"/>
                </a:solidFill>
                <a:latin typeface="Calibri"/>
              </a:defRPr>
            </a:pPr>
            <a:r>
              <a:rPr>
                <a:hlinkClick r:id="rId4"/>
              </a:rPr>
              <a:t>https://numpy.org/doc/stable/reference/generated/numpy.bincount.html</a:t>
            </a:r>
          </a:p>
        </p:txBody>
      </p:sp>
      <p:sp>
        <p:nvSpPr>
          <p:cNvPr id="13" name="TextBox 12"/>
          <p:cNvSpPr txBox="1"/>
          <p:nvPr/>
        </p:nvSpPr>
        <p:spPr>
          <a:xfrm>
            <a:off x="777240" y="4160520"/>
            <a:ext cx="10515600" cy="310896"/>
          </a:xfrm>
          <a:prstGeom prst="rect">
            <a:avLst/>
          </a:prstGeom>
          <a:noFill/>
        </p:spPr>
        <p:txBody>
          <a:bodyPr wrap="square" lIns="0" rIns="0" tIns="0" bIns="0">
            <a:spAutoFit/>
          </a:bodyPr>
          <a:lstStyle/>
          <a:p>
            <a:pPr>
              <a:spcAft>
                <a:spcPts val="800"/>
              </a:spcAft>
              <a:defRPr sz="2100" b="1">
                <a:solidFill>
                  <a:srgbClr val="18221C"/>
                </a:solidFill>
                <a:latin typeface="Calibri"/>
              </a:defRPr>
            </a:pPr>
            <a:r>
              <a:t>[4] Streamlit · cache_data</a:t>
            </a:r>
          </a:p>
        </p:txBody>
      </p:sp>
      <p:sp>
        <p:nvSpPr>
          <p:cNvPr id="14" name="TextBox 13"/>
          <p:cNvSpPr txBox="1"/>
          <p:nvPr/>
        </p:nvSpPr>
        <p:spPr>
          <a:xfrm>
            <a:off x="777240" y="4498848"/>
            <a:ext cx="10515600" cy="274320"/>
          </a:xfrm>
          <a:prstGeom prst="rect">
            <a:avLst/>
          </a:prstGeom>
          <a:noFill/>
        </p:spPr>
        <p:txBody>
          <a:bodyPr wrap="square" lIns="0" rIns="0" tIns="0" bIns="0">
            <a:spAutoFit/>
          </a:bodyPr>
          <a:lstStyle/>
          <a:p>
            <a:pPr>
              <a:spcAft>
                <a:spcPts val="800"/>
              </a:spcAft>
              <a:defRPr sz="1500" b="0">
                <a:solidFill>
                  <a:srgbClr val="486B52"/>
                </a:solidFill>
                <a:latin typeface="Calibri"/>
              </a:defRPr>
            </a:pPr>
            <a:r>
              <a:rPr>
                <a:hlinkClick r:id="rId5"/>
              </a:rPr>
              <a:t>https://docs.streamlit.io/develop/api-reference/caching-and-state/st.cache_data</a:t>
            </a:r>
          </a:p>
        </p:txBody>
      </p:sp>
      <p:sp>
        <p:nvSpPr>
          <p:cNvPr id="15" name="TextBox 14"/>
          <p:cNvSpPr txBox="1"/>
          <p:nvPr/>
        </p:nvSpPr>
        <p:spPr>
          <a:xfrm>
            <a:off x="777240" y="5212080"/>
            <a:ext cx="10607040" cy="822960"/>
          </a:xfrm>
          <a:prstGeom prst="rect">
            <a:avLst/>
          </a:prstGeom>
          <a:noFill/>
        </p:spPr>
        <p:txBody>
          <a:bodyPr wrap="square" lIns="0" rIns="0" tIns="0" bIns="0">
            <a:spAutoFit/>
          </a:bodyPr>
          <a:lstStyle/>
          <a:p>
            <a:pPr>
              <a:spcAft>
                <a:spcPts val="800"/>
              </a:spcAft>
              <a:defRPr sz="2000" b="0">
                <a:solidFill>
                  <a:srgbClr val="59675F"/>
                </a:solidFill>
                <a:latin typeface="Calibri"/>
              </a:defRPr>
            </a:pPr>
            <a:r>
              <a:t>Local evidence: inspected source; experiments.py; experiment_results.csv;</a:t>
            </a:r>
          </a:p>
          <a:p>
            <a:pPr>
              <a:spcAft>
                <a:spcPts val="800"/>
              </a:spcAft>
              <a:defRPr sz="2000" b="0">
                <a:solidFill>
                  <a:srgbClr val="59675F"/>
                </a:solidFill>
                <a:latin typeface="Calibri"/>
              </a:defRPr>
            </a:pPr>
            <a:r>
              <a:t>experiment_manifest.json; browser CSV downloads and actual screenshots.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292608"/>
            <a:ext cx="10972800" cy="274320"/>
          </a:xfrm>
          <a:prstGeom prst="rect">
            <a:avLst/>
          </a:prstGeom>
          <a:noFill/>
        </p:spPr>
        <p:txBody>
          <a:bodyPr wrap="square" lIns="0" rIns="0" tIns="0" bIns="0">
            <a:spAutoFit/>
          </a:bodyPr>
          <a:lstStyle/>
          <a:p>
            <a:pPr>
              <a:spcAft>
                <a:spcPts val="800"/>
              </a:spcAft>
              <a:defRPr sz="1100" b="1">
                <a:solidFill>
                  <a:srgbClr val="486B52"/>
                </a:solidFill>
                <a:latin typeface="Calibri"/>
              </a:defRPr>
            </a:pPr>
            <a:r>
              <a:t>INFORMATION THEORY MINI PROJECT</a:t>
            </a:r>
          </a:p>
        </p:txBody>
      </p:sp>
      <p:sp>
        <p:nvSpPr>
          <p:cNvPr id="3" name="TextBox 2"/>
          <p:cNvSpPr txBox="1"/>
          <p:nvPr/>
        </p:nvSpPr>
        <p:spPr>
          <a:xfrm>
            <a:off x="530352" y="758952"/>
            <a:ext cx="11064240" cy="658368"/>
          </a:xfrm>
          <a:prstGeom prst="rect">
            <a:avLst/>
          </a:prstGeom>
          <a:noFill/>
        </p:spPr>
        <p:txBody>
          <a:bodyPr wrap="square" lIns="0" rIns="0" tIns="0" bIns="0">
            <a:spAutoFit/>
          </a:bodyPr>
          <a:lstStyle/>
          <a:p>
            <a:pPr>
              <a:spcAft>
                <a:spcPts val="800"/>
              </a:spcAft>
              <a:defRPr sz="3200" b="1">
                <a:solidFill>
                  <a:srgbClr val="18221C"/>
                </a:solidFill>
                <a:latin typeface="Calibri"/>
              </a:defRPr>
            </a:pPr>
            <a:r>
              <a:t>Questions are welcome</a:t>
            </a:r>
          </a:p>
        </p:txBody>
      </p:sp>
      <p:sp>
        <p:nvSpPr>
          <p:cNvPr id="4" name="Rectangle 3"/>
          <p:cNvSpPr/>
          <p:nvPr/>
        </p:nvSpPr>
        <p:spPr>
          <a:xfrm>
            <a:off x="548640" y="1517904"/>
            <a:ext cx="11064240" cy="16459"/>
          </a:xfrm>
          <a:prstGeom prst="rect">
            <a:avLst/>
          </a:prstGeom>
          <a:solidFill>
            <a:srgbClr val="CCD9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0528"/>
            <a:ext cx="9966960" cy="182880"/>
          </a:xfrm>
          <a:prstGeom prst="rect">
            <a:avLst/>
          </a:prstGeom>
          <a:noFill/>
        </p:spPr>
        <p:txBody>
          <a:bodyPr wrap="square" lIns="0" rIns="0" tIns="0" bIns="0">
            <a:spAutoFit/>
          </a:bodyPr>
          <a:lstStyle/>
          <a:p>
            <a:pPr>
              <a:spcAft>
                <a:spcPts val="800"/>
              </a:spcAft>
              <a:defRPr sz="1000" b="0">
                <a:solidFill>
                  <a:srgbClr val="59675F"/>
                </a:solidFill>
                <a:latin typeface="Calibri"/>
              </a:defRPr>
            </a:pPr>
            <a:r>
              <a:t>ISHITA SAHU  /  IMAGE ENTROPY ANALYZER</a:t>
            </a:r>
          </a:p>
        </p:txBody>
      </p:sp>
      <p:sp>
        <p:nvSpPr>
          <p:cNvPr id="6" name="TextBox 5"/>
          <p:cNvSpPr txBox="1"/>
          <p:nvPr/>
        </p:nvSpPr>
        <p:spPr>
          <a:xfrm>
            <a:off x="10972800" y="6464808"/>
            <a:ext cx="640080" cy="274320"/>
          </a:xfrm>
          <a:prstGeom prst="rect">
            <a:avLst/>
          </a:prstGeom>
          <a:noFill/>
        </p:spPr>
        <p:txBody>
          <a:bodyPr wrap="square" lIns="0" rIns="0" tIns="0" bIns="0">
            <a:spAutoFit/>
          </a:bodyPr>
          <a:lstStyle/>
          <a:p>
            <a:pPr algn="r">
              <a:spcAft>
                <a:spcPts val="800"/>
              </a:spcAft>
              <a:defRPr sz="1100" b="1">
                <a:solidFill>
                  <a:srgbClr val="486B52"/>
                </a:solidFill>
                <a:latin typeface="Calibri"/>
              </a:defRPr>
            </a:pPr>
            <a:r>
              <a:t>17</a:t>
            </a:r>
          </a:p>
        </p:txBody>
      </p:sp>
      <p:sp>
        <p:nvSpPr>
          <p:cNvPr id="7" name="TextBox 6"/>
          <p:cNvSpPr txBox="1"/>
          <p:nvPr/>
        </p:nvSpPr>
        <p:spPr>
          <a:xfrm>
            <a:off x="777240" y="2377440"/>
            <a:ext cx="10698480" cy="1097280"/>
          </a:xfrm>
          <a:prstGeom prst="rect">
            <a:avLst/>
          </a:prstGeom>
          <a:noFill/>
        </p:spPr>
        <p:txBody>
          <a:bodyPr wrap="square" lIns="0" rIns="0" tIns="0" bIns="0">
            <a:spAutoFit/>
          </a:bodyPr>
          <a:lstStyle/>
          <a:p>
            <a:pPr>
              <a:spcAft>
                <a:spcPts val="800"/>
              </a:spcAft>
              <a:defRPr sz="4400" b="1">
                <a:solidFill>
                  <a:srgbClr val="486B52"/>
                </a:solidFill>
                <a:latin typeface="Calibri"/>
              </a:defRPr>
            </a:pPr>
            <a:r>
              <a:t>Thank you.</a:t>
            </a:r>
          </a:p>
        </p:txBody>
      </p:sp>
      <p:sp>
        <p:nvSpPr>
          <p:cNvPr id="8" name="TextBox 7"/>
          <p:cNvSpPr txBox="1"/>
          <p:nvPr/>
        </p:nvSpPr>
        <p:spPr>
          <a:xfrm>
            <a:off x="822960" y="3840480"/>
            <a:ext cx="10698480" cy="640080"/>
          </a:xfrm>
          <a:prstGeom prst="rect">
            <a:avLst/>
          </a:prstGeom>
          <a:noFill/>
        </p:spPr>
        <p:txBody>
          <a:bodyPr wrap="square" lIns="0" rIns="0" tIns="0" bIns="0">
            <a:spAutoFit/>
          </a:bodyPr>
          <a:lstStyle/>
          <a:p>
            <a:pPr>
              <a:spcAft>
                <a:spcPts val="800"/>
              </a:spcAft>
              <a:defRPr sz="2500" b="0">
                <a:solidFill>
                  <a:srgbClr val="18221C"/>
                </a:solidFill>
                <a:latin typeface="Calibri"/>
              </a:defRPr>
            </a:pPr>
            <a:r>
              <a:t>Ishita Sahu · Information Theory Mini Project</a:t>
            </a:r>
          </a:p>
        </p:txBody>
      </p:sp>
      <p:sp>
        <p:nvSpPr>
          <p:cNvPr id="9" name="TextBox 8"/>
          <p:cNvSpPr txBox="1"/>
          <p:nvPr/>
        </p:nvSpPr>
        <p:spPr>
          <a:xfrm>
            <a:off x="822960" y="4754880"/>
            <a:ext cx="10698480" cy="731520"/>
          </a:xfrm>
          <a:prstGeom prst="rect">
            <a:avLst/>
          </a:prstGeom>
          <a:noFill/>
        </p:spPr>
        <p:txBody>
          <a:bodyPr wrap="square" lIns="0" rIns="0" tIns="0" bIns="0">
            <a:spAutoFit/>
          </a:bodyPr>
          <a:lstStyle/>
          <a:p>
            <a:pPr>
              <a:spcAft>
                <a:spcPts val="800"/>
              </a:spcAft>
              <a:defRPr sz="2200" b="0">
                <a:solidFill>
                  <a:srgbClr val="486B52"/>
                </a:solidFill>
                <a:latin typeface="Calibri"/>
              </a:defRPr>
            </a:pPr>
            <a:r>
              <a:rPr>
                <a:hlinkClick r:id="rId2"/>
              </a:rPr>
              <a:t>github.com/Ishita-2210/image-entropy-analyzer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Entropy Analyzer</dc:title>
  <dc:subject/>
  <dc:creator>Ishita Sahu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